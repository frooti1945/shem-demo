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  <p:sldId id="259" r:id="rId3"/>
    <p:sldId id="260" r:id="rId4"/>
    <p:sldId id="262" r:id="rId5"/>
    <p:sldId id="261" r:id="rId6"/>
    <p:sldId id="266" r:id="rId7"/>
    <p:sldId id="263" r:id="rId8"/>
    <p:sldId id="265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CC99"/>
    <a:srgbClr val="FF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7C67F-8BF5-447E-B2BA-3AAE75BC2516}" v="1" dt="2026-01-13T08:18:36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898" y="-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man Panda" userId="c54261a0283ddfe9" providerId="LiveId" clId="{0339352F-BF7C-4D8D-9A38-2B53DCA4D72E}"/>
    <pc:docChg chg="undo custSel addSld delSld modSld">
      <pc:chgData name="Anshuman Panda" userId="c54261a0283ddfe9" providerId="LiveId" clId="{0339352F-BF7C-4D8D-9A38-2B53DCA4D72E}" dt="2026-01-13T08:19:06.224" v="532" actId="14100"/>
      <pc:docMkLst>
        <pc:docMk/>
      </pc:docMkLst>
      <pc:sldChg chg="addSp modSp add del mod">
        <pc:chgData name="Anshuman Panda" userId="c54261a0283ddfe9" providerId="LiveId" clId="{0339352F-BF7C-4D8D-9A38-2B53DCA4D72E}" dt="2026-01-13T08:17:36.941" v="526" actId="2696"/>
        <pc:sldMkLst>
          <pc:docMk/>
          <pc:sldMk cId="0" sldId="261"/>
        </pc:sldMkLst>
        <pc:spChg chg="add mod">
          <ac:chgData name="Anshuman Panda" userId="c54261a0283ddfe9" providerId="LiveId" clId="{0339352F-BF7C-4D8D-9A38-2B53DCA4D72E}" dt="2026-01-13T08:08:37.688" v="524" actId="1076"/>
          <ac:spMkLst>
            <pc:docMk/>
            <pc:sldMk cId="0" sldId="261"/>
            <ac:spMk id="6" creationId="{89CE8A7A-0D83-7505-D39D-C72CE5CEA03A}"/>
          </ac:spMkLst>
        </pc:spChg>
      </pc:sldChg>
      <pc:sldChg chg="addSp modSp mod">
        <pc:chgData name="Anshuman Panda" userId="c54261a0283ddfe9" providerId="LiveId" clId="{0339352F-BF7C-4D8D-9A38-2B53DCA4D72E}" dt="2026-01-13T08:00:32.663" v="454" actId="1076"/>
        <pc:sldMkLst>
          <pc:docMk/>
          <pc:sldMk cId="0" sldId="263"/>
        </pc:sldMkLst>
        <pc:spChg chg="add mod">
          <ac:chgData name="Anshuman Panda" userId="c54261a0283ddfe9" providerId="LiveId" clId="{0339352F-BF7C-4D8D-9A38-2B53DCA4D72E}" dt="2026-01-13T07:53:53.785" v="413" actId="2711"/>
          <ac:spMkLst>
            <pc:docMk/>
            <pc:sldMk cId="0" sldId="263"/>
            <ac:spMk id="4" creationId="{1339609C-7559-5FEC-B597-9A2AEC21B9FA}"/>
          </ac:spMkLst>
        </pc:spChg>
        <pc:spChg chg="add mod">
          <ac:chgData name="Anshuman Panda" userId="c54261a0283ddfe9" providerId="LiveId" clId="{0339352F-BF7C-4D8D-9A38-2B53DCA4D72E}" dt="2026-01-13T07:56:18.318" v="426" actId="1076"/>
          <ac:spMkLst>
            <pc:docMk/>
            <pc:sldMk cId="0" sldId="263"/>
            <ac:spMk id="6" creationId="{7B760CA5-BBED-DAAF-FC6D-020BA47F6377}"/>
          </ac:spMkLst>
        </pc:spChg>
        <pc:spChg chg="add mod">
          <ac:chgData name="Anshuman Panda" userId="c54261a0283ddfe9" providerId="LiveId" clId="{0339352F-BF7C-4D8D-9A38-2B53DCA4D72E}" dt="2026-01-13T07:58:21.544" v="438" actId="1076"/>
          <ac:spMkLst>
            <pc:docMk/>
            <pc:sldMk cId="0" sldId="263"/>
            <ac:spMk id="8" creationId="{F9756218-9908-D7EA-2D7A-BCA71FB7A7D8}"/>
          </ac:spMkLst>
        </pc:spChg>
        <pc:spChg chg="add mod">
          <ac:chgData name="Anshuman Panda" userId="c54261a0283ddfe9" providerId="LiveId" clId="{0339352F-BF7C-4D8D-9A38-2B53DCA4D72E}" dt="2026-01-13T08:00:32.663" v="454" actId="1076"/>
          <ac:spMkLst>
            <pc:docMk/>
            <pc:sldMk cId="0" sldId="263"/>
            <ac:spMk id="10" creationId="{F89582B8-EFB3-707C-099C-AD7F9CC67883}"/>
          </ac:spMkLst>
        </pc:spChg>
      </pc:sldChg>
      <pc:sldChg chg="add del">
        <pc:chgData name="Anshuman Panda" userId="c54261a0283ddfe9" providerId="LiveId" clId="{0339352F-BF7C-4D8D-9A38-2B53DCA4D72E}" dt="2026-01-13T07:47:03.764" v="402" actId="2696"/>
        <pc:sldMkLst>
          <pc:docMk/>
          <pc:sldMk cId="0" sldId="264"/>
        </pc:sldMkLst>
      </pc:sldChg>
      <pc:sldChg chg="addSp delSp modSp mod">
        <pc:chgData name="Anshuman Panda" userId="c54261a0283ddfe9" providerId="LiveId" clId="{0339352F-BF7C-4D8D-9A38-2B53DCA4D72E}" dt="2026-01-13T07:46:09.195" v="401" actId="2711"/>
        <pc:sldMkLst>
          <pc:docMk/>
          <pc:sldMk cId="0" sldId="265"/>
        </pc:sldMkLst>
        <pc:spChg chg="add del mod">
          <ac:chgData name="Anshuman Panda" userId="c54261a0283ddfe9" providerId="LiveId" clId="{0339352F-BF7C-4D8D-9A38-2B53DCA4D72E}" dt="2026-01-13T07:46:09.195" v="401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Anshuman Panda" userId="c54261a0283ddfe9" providerId="LiveId" clId="{0339352F-BF7C-4D8D-9A38-2B53DCA4D72E}" dt="2026-01-13T07:31:30.100" v="1" actId="20577"/>
          <ac:spMkLst>
            <pc:docMk/>
            <pc:sldMk cId="0" sldId="265"/>
            <ac:spMk id="9" creationId="{00000000-0000-0000-0000-000000000000}"/>
          </ac:spMkLst>
        </pc:spChg>
      </pc:sldChg>
      <pc:sldChg chg="add del">
        <pc:chgData name="Anshuman Panda" userId="c54261a0283ddfe9" providerId="LiveId" clId="{0339352F-BF7C-4D8D-9A38-2B53DCA4D72E}" dt="2026-01-13T07:47:11.211" v="403" actId="2696"/>
        <pc:sldMkLst>
          <pc:docMk/>
          <pc:sldMk cId="0" sldId="266"/>
        </pc:sldMkLst>
      </pc:sldChg>
      <pc:sldChg chg="addSp modSp new mod">
        <pc:chgData name="Anshuman Panda" userId="c54261a0283ddfe9" providerId="LiveId" clId="{0339352F-BF7C-4D8D-9A38-2B53DCA4D72E}" dt="2026-01-13T08:19:06.224" v="532" actId="14100"/>
        <pc:sldMkLst>
          <pc:docMk/>
          <pc:sldMk cId="1436938537" sldId="266"/>
        </pc:sldMkLst>
        <pc:picChg chg="add mod">
          <ac:chgData name="Anshuman Panda" userId="c54261a0283ddfe9" providerId="LiveId" clId="{0339352F-BF7C-4D8D-9A38-2B53DCA4D72E}" dt="2026-01-13T08:19:06.224" v="532" actId="14100"/>
          <ac:picMkLst>
            <pc:docMk/>
            <pc:sldMk cId="1436938537" sldId="266"/>
            <ac:picMk id="3" creationId="{9CEFDF7E-4D90-8574-DAFF-874856D8C4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0544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0874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6984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4547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9886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84419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4546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0670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9633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7755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74067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713305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14292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91561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08414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31432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66387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61439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9310-thank-you-png-imag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923FCE-879A-4965-75C9-70252E9E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pic>
        <p:nvPicPr>
          <p:cNvPr id="5" name="Content Placeholder 4" descr="A house with many icons&#10;&#10;AI-generated content may be incorrect.">
            <a:extLst>
              <a:ext uri="{FF2B5EF4-FFF2-40B4-BE49-F238E27FC236}">
                <a16:creationId xmlns:a16="http://schemas.microsoft.com/office/drawing/2014/main" xmlns="" id="{48F0BA9B-C91B-B029-1B1D-9E59ABC35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098"/>
            <a:ext cx="12197102" cy="68389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394347D-E543-B02F-A1B7-5CDDF92A740B}"/>
              </a:ext>
            </a:extLst>
          </p:cNvPr>
          <p:cNvSpPr txBox="1"/>
          <p:nvPr/>
        </p:nvSpPr>
        <p:spPr>
          <a:xfrm>
            <a:off x="1932973" y="48509"/>
            <a:ext cx="88777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Smart</a:t>
            </a:r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</a:t>
            </a:r>
            <a:r>
              <a:rPr lang="en-IN" sz="4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Home</a:t>
            </a:r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IN" sz="4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Energy</a:t>
            </a:r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IN" sz="4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Management</a:t>
            </a:r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  </a:t>
            </a:r>
            <a:r>
              <a:rPr lang="en-IN" sz="4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skerville Old Face" panose="02020602080505020303" pitchFamily="18" charset="0"/>
              </a:rPr>
              <a:t>System</a:t>
            </a:r>
            <a:endParaRPr lang="en-IN" sz="4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4BE1CE5-92F9-4D92-BB5A-F46AE3B8D209}"/>
              </a:ext>
            </a:extLst>
          </p:cNvPr>
          <p:cNvSpPr txBox="1"/>
          <p:nvPr/>
        </p:nvSpPr>
        <p:spPr>
          <a:xfrm>
            <a:off x="0" y="4947310"/>
            <a:ext cx="6330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Presented By- </a:t>
            </a:r>
          </a:p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Dibya Patra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B44D357-0878-8B11-DC68-90EEFB9A8C94}"/>
              </a:ext>
            </a:extLst>
          </p:cNvPr>
          <p:cNvSpPr txBox="1"/>
          <p:nvPr/>
        </p:nvSpPr>
        <p:spPr>
          <a:xfrm>
            <a:off x="9026770" y="6163160"/>
            <a:ext cx="6330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Under The Guidance Of- </a:t>
            </a:r>
          </a:p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Dr. T. Premalatha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C3BEF1F-8D7D-7156-F93C-FC62458E30A8}"/>
              </a:ext>
            </a:extLst>
          </p:cNvPr>
          <p:cNvSpPr txBox="1"/>
          <p:nvPr/>
        </p:nvSpPr>
        <p:spPr>
          <a:xfrm>
            <a:off x="5242806" y="785854"/>
            <a:ext cx="7792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(Module-2) Smart Device Management </a:t>
            </a:r>
          </a:p>
        </p:txBody>
      </p:sp>
    </p:spTree>
    <p:extLst>
      <p:ext uri="{BB962C8B-B14F-4D97-AF65-F5344CB8AC3E}">
        <p14:creationId xmlns:p14="http://schemas.microsoft.com/office/powerpoint/2010/main" xmlns="" val="16512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">
              <a:schemeClr val="accent1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65044" y="274377"/>
            <a:ext cx="7765523" cy="58477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lvl="1" algn="ctr"/>
            <a:r>
              <a:rPr lang="en-IN" sz="3200" b="1" u="sng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About Real Time Energy Tracking </a:t>
            </a:r>
            <a:endParaRPr lang="en-US" sz="3200" b="1" u="sng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9171" y="978633"/>
            <a:ext cx="10832123" cy="18689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2804" y="1145512"/>
            <a:ext cx="105708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Real Time Energy Tracking?</a:t>
            </a:r>
          </a:p>
          <a:p>
            <a:r>
              <a:rPr lang="en-US" b="1" dirty="0">
                <a:solidFill>
                  <a:schemeClr val="bg1"/>
                </a:solidFill>
              </a:rPr>
              <a:t>Definition: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latin typeface="Arial "/>
              </a:rPr>
              <a:t>Real-time energy tracking allows the system to </a:t>
            </a:r>
            <a:r>
              <a:rPr lang="en-US" b="1" dirty="0">
                <a:solidFill>
                  <a:schemeClr val="bg1"/>
                </a:solidFill>
                <a:latin typeface="Arial "/>
              </a:rPr>
              <a:t>measure, collect, and show live power usage</a:t>
            </a:r>
            <a:r>
              <a:rPr lang="en-US" dirty="0">
                <a:solidFill>
                  <a:schemeClr val="bg1"/>
                </a:solidFill>
                <a:latin typeface="Arial "/>
              </a:rPr>
              <a:t> of devices like AC, lights, washing machine, and water heater through a software dashboard or mobile app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92853" y="3295859"/>
            <a:ext cx="10902461" cy="29039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83287" y="3346101"/>
            <a:ext cx="102191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"/>
              </a:rPr>
              <a:t>In the </a:t>
            </a:r>
            <a:r>
              <a:rPr lang="en-US" sz="2000" b="1" dirty="0">
                <a:solidFill>
                  <a:schemeClr val="bg1"/>
                </a:solidFill>
                <a:latin typeface="Arial "/>
              </a:rPr>
              <a:t>Smart Home Energy Management System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, real-time energy tracking continuously monitors the live electricity consumption of household devices using smart sensors. The collected data is sent to the server and displayed on a dashboard, helping users identify high energy usage, receive alerts, and reduce power wastage.</a:t>
            </a:r>
          </a:p>
          <a:p>
            <a:r>
              <a:rPr lang="en-IN" sz="2000" dirty="0">
                <a:solidFill>
                  <a:schemeClr val="bg1"/>
                </a:solidFill>
                <a:latin typeface="Arial "/>
              </a:rPr>
              <a:t>               </a:t>
            </a:r>
          </a:p>
          <a:p>
            <a:r>
              <a:rPr lang="en-IN" sz="2000" dirty="0">
                <a:solidFill>
                  <a:schemeClr val="bg1"/>
                </a:solidFill>
                <a:latin typeface="Arial "/>
              </a:rPr>
              <a:t> It 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Prevents energy wastage and Helps users to understand appliance usage,</a:t>
            </a:r>
          </a:p>
          <a:p>
            <a:r>
              <a:rPr lang="en-US" sz="2000" dirty="0">
                <a:solidFill>
                  <a:schemeClr val="bg1"/>
                </a:solidFill>
                <a:latin typeface="Arial "/>
              </a:rPr>
              <a:t>Supports automated energy control, Reduces electricity bills</a:t>
            </a:r>
          </a:p>
          <a:p>
            <a:r>
              <a:rPr lang="en-US" sz="2000" dirty="0">
                <a:solidFill>
                  <a:schemeClr val="bg1"/>
                </a:solidFill>
                <a:latin typeface="Arial "/>
              </a:rPr>
              <a:t>Improves overall energy efficiency</a:t>
            </a:r>
          </a:p>
          <a:p>
            <a:endParaRPr lang="en-US" sz="2000" dirty="0">
              <a:solidFill>
                <a:schemeClr val="bg1"/>
              </a:solidFill>
              <a:latin typeface="Arial "/>
            </a:endParaRPr>
          </a:p>
          <a:p>
            <a:r>
              <a:rPr lang="en-US" sz="2000" dirty="0">
                <a:solidFill>
                  <a:schemeClr val="bg1"/>
                </a:solidFill>
                <a:latin typeface="Arial "/>
              </a:rPr>
              <a:t/>
            </a:r>
            <a:br>
              <a:rPr lang="en-US" sz="2000" dirty="0">
                <a:solidFill>
                  <a:schemeClr val="bg1"/>
                </a:solidFill>
                <a:latin typeface="Arial "/>
              </a:rPr>
            </a:br>
            <a:endParaRPr lang="en-US" sz="2000" dirty="0">
              <a:solidFill>
                <a:schemeClr val="bg1"/>
              </a:solidFill>
              <a:latin typeface="Arial 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  <a:alpha val="82000"/>
              </a:schemeClr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4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13053" y="169234"/>
            <a:ext cx="8912507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sz="2400" dirty="0">
              <a:latin typeface="Arial "/>
            </a:endParaRPr>
          </a:p>
          <a:p>
            <a:endParaRPr lang="en-US" sz="2400" dirty="0">
              <a:latin typeface="Arial 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3135" y="1222408"/>
            <a:ext cx="982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67198" y="196769"/>
            <a:ext cx="876958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000" b="0" u="sng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 "/>
                <a:cs typeface="Arial" pitchFamily="34" charset="0"/>
              </a:rPr>
              <a:t> </a:t>
            </a:r>
            <a:r>
              <a:rPr lang="en-US" sz="3000" b="0" u="sng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 "/>
                <a:cs typeface="Arial" pitchFamily="34" charset="0"/>
              </a:rPr>
              <a:t>Linking of Modules for Real Time Energy Tracking</a:t>
            </a:r>
          </a:p>
          <a:p>
            <a:pPr algn="ctr"/>
            <a:r>
              <a:rPr lang="en-US" sz="3000" b="0" u="sng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 "/>
                <a:cs typeface="Arial" pitchFamily="34" charset="0"/>
              </a:rPr>
              <a:t> (Module 3)</a:t>
            </a:r>
            <a:endParaRPr lang="en-US" sz="3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 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46972" y="1522071"/>
            <a:ext cx="3900667" cy="45604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2600" y="1562582"/>
            <a:ext cx="3750197" cy="45372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47949" y="1483488"/>
            <a:ext cx="4105154" cy="45604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1932972"/>
            <a:ext cx="379649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  <a:latin typeface="Arial "/>
              </a:rPr>
              <a:t>Module 1:</a:t>
            </a:r>
          </a:p>
          <a:p>
            <a:r>
              <a:rPr lang="en-US" sz="2000" u="sng" dirty="0">
                <a:solidFill>
                  <a:schemeClr val="bg1"/>
                </a:solidFill>
                <a:latin typeface="Arial "/>
              </a:rPr>
              <a:t>User &amp; Access Management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Module 1 controls who can access the system.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It ensures that only authorized users (admin or resident) can view real-time energy data. 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Admin has full access, while users have limited access like viewing usage and switching devices ON/OFF.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74288" y="1851949"/>
            <a:ext cx="31367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  <a:latin typeface="Arial "/>
              </a:rPr>
              <a:t>Module 2:</a:t>
            </a:r>
          </a:p>
          <a:p>
            <a:r>
              <a:rPr lang="en-US" sz="2000" u="sng" dirty="0">
                <a:solidFill>
                  <a:schemeClr val="bg1"/>
                </a:solidFill>
                <a:latin typeface="Arial "/>
              </a:rPr>
              <a:t>Device Management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Module 2 manages which devices are tracked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Each device is registered with details such as device type, power rating, location, and current status.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This information is essential for calculating energy consumption.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300" y="1898248"/>
            <a:ext cx="380807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  <a:latin typeface="Arial "/>
              </a:rPr>
              <a:t>Module 3:</a:t>
            </a:r>
            <a:r>
              <a:rPr lang="en-US" dirty="0">
                <a:solidFill>
                  <a:schemeClr val="bg1"/>
                </a:solidFill>
                <a:latin typeface="Arial "/>
              </a:rPr>
              <a:t> </a:t>
            </a:r>
          </a:p>
          <a:p>
            <a:r>
              <a:rPr lang="en-US" sz="2000" u="sng" dirty="0">
                <a:solidFill>
                  <a:schemeClr val="bg1"/>
                </a:solidFill>
                <a:latin typeface="Arial "/>
              </a:rPr>
              <a:t>Real-Time Energy Tracking</a:t>
            </a:r>
          </a:p>
          <a:p>
            <a:endParaRPr lang="en-US" sz="2000" u="sng" dirty="0">
              <a:solidFill>
                <a:schemeClr val="bg1"/>
              </a:solidFill>
              <a:latin typeface="Arial "/>
            </a:endParaRPr>
          </a:p>
          <a:p>
            <a:r>
              <a:rPr lang="en-US" dirty="0">
                <a:solidFill>
                  <a:schemeClr val="bg1"/>
                </a:solidFill>
                <a:latin typeface="Arial "/>
              </a:rPr>
              <a:t>Module 3 uses user permissions from Module 1 and device data from Module 2 to continuously monitor and display device-wise and total energy consumption in real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00480" y="0"/>
            <a:ext cx="8930640" cy="6400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48196" y="0"/>
            <a:ext cx="849944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u="sng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Classes in Real-Time Energy Tracking Module (Module 3)</a:t>
            </a:r>
            <a:endParaRPr lang="en-US" sz="2400" u="sng" cap="none" spc="0" dirty="0">
              <a:ln w="17780" cmpd="sng">
                <a:solidFill>
                  <a:schemeClr val="tx1"/>
                </a:solidFill>
                <a:prstDash val="solid"/>
                <a:miter lim="800000"/>
              </a:ln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0019" y="833377"/>
            <a:ext cx="11753834" cy="57288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4020" y="1930400"/>
            <a:ext cx="82527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1884" y="902825"/>
            <a:ext cx="100005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EnergyUsage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 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 Stores real-time power consumption data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Includes (device ID, timestamp, and energy usage)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Uses device details from Module 2 (Device Management)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bg1"/>
              </a:solidFill>
              <a:latin typeface="Arial "/>
            </a:endParaRPr>
          </a:p>
          <a:p>
            <a:pPr marL="457200" indent="-457200"/>
            <a:r>
              <a:rPr lang="en-US" sz="2000" dirty="0">
                <a:solidFill>
                  <a:schemeClr val="bg1"/>
                </a:solidFill>
                <a:latin typeface="Arial "/>
              </a:rPr>
              <a:t>2.   </a:t>
            </a: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EnergyController</a:t>
            </a:r>
            <a:endParaRPr lang="en-US" sz="2000" dirty="0">
              <a:solidFill>
                <a:schemeClr val="bg1"/>
              </a:solidFill>
              <a:latin typeface="Arial "/>
            </a:endParaRP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 Acts as an interface between user and system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Handles requests to view energy data 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Checks  user access from Module 1 (User Management)</a:t>
            </a:r>
          </a:p>
          <a:p>
            <a:pPr marL="457200" indent="-457200"/>
            <a:endParaRPr lang="en-US" sz="2000" dirty="0">
              <a:solidFill>
                <a:schemeClr val="bg1"/>
              </a:solidFill>
              <a:latin typeface="Arial "/>
            </a:endParaRPr>
          </a:p>
          <a:p>
            <a:pPr marL="457200" indent="-457200"/>
            <a:r>
              <a:rPr lang="en-US" sz="2000" dirty="0">
                <a:solidFill>
                  <a:schemeClr val="bg1"/>
                </a:solidFill>
                <a:latin typeface="Arial "/>
              </a:rPr>
              <a:t>3.  </a:t>
            </a: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EnergyService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 </a:t>
            </a:r>
          </a:p>
          <a:p>
            <a:pPr marL="457200" indent="74613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Performs energy calculations and processing</a:t>
            </a:r>
          </a:p>
          <a:p>
            <a:pPr marL="457200" indent="74613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Calculates total and device-wise consumption</a:t>
            </a:r>
          </a:p>
          <a:p>
            <a:pPr marL="457200" indent="74613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Uses  power ratings from Module 2</a:t>
            </a:r>
          </a:p>
          <a:p>
            <a:pPr marL="457200" indent="-457200"/>
            <a:endParaRPr lang="en-US" sz="2000" dirty="0">
              <a:solidFill>
                <a:schemeClr val="bg1"/>
              </a:solidFill>
              <a:latin typeface="Arial "/>
            </a:endParaRPr>
          </a:p>
          <a:p>
            <a:pPr marL="457200" indent="-457200"/>
            <a:r>
              <a:rPr lang="en-US" sz="2000" dirty="0">
                <a:solidFill>
                  <a:schemeClr val="bg1"/>
                </a:solidFill>
                <a:latin typeface="Arial "/>
              </a:rPr>
              <a:t>4.   </a:t>
            </a: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EnergyRepository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 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 Stores and retrieves energy data from the database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Saves data generated by </a:t>
            </a: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EnergyService</a:t>
            </a:r>
            <a:endParaRPr lang="en-US" sz="2000" dirty="0">
              <a:solidFill>
                <a:schemeClr val="bg1"/>
              </a:solidFill>
              <a:latin typeface="Arial 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titled diagram-2026-01-13-06412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80881" y="0"/>
            <a:ext cx="5416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45215" cy="120376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6218" y="196770"/>
            <a:ext cx="56021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latin typeface="Arial "/>
              </a:rPr>
              <a:t>CLASS DAIGRAM FOR MODULE-3</a:t>
            </a:r>
            <a:endParaRPr lang="en-US" sz="2800" b="1" u="sng" dirty="0">
              <a:solidFill>
                <a:schemeClr val="bg1"/>
              </a:solidFill>
              <a:latin typeface="Arial 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9CE8A7A-0D83-7505-D39D-C72CE5CEA03A}"/>
              </a:ext>
            </a:extLst>
          </p:cNvPr>
          <p:cNvSpPr txBox="1"/>
          <p:nvPr/>
        </p:nvSpPr>
        <p:spPr>
          <a:xfrm>
            <a:off x="873760" y="249623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EnergyTrackingController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↓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EnergyTrackingService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↓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UsageRepository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↓ 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DATABASE 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usage_logs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table)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CEFDF7E-4D90-8574-DAFF-874856D8C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3693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11961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endParaRPr lang="en-IN" sz="2000" b="1" i="1" u="sng" cap="none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339609C-7559-5FEC-B597-9A2AEC21B9FA}"/>
              </a:ext>
            </a:extLst>
          </p:cNvPr>
          <p:cNvSpPr txBox="1"/>
          <p:nvPr/>
        </p:nvSpPr>
        <p:spPr>
          <a:xfrm>
            <a:off x="100747" y="669392"/>
            <a:ext cx="61026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 USAGE (stores usage data)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CLASS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EnergyUsage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energyUsed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B760CA5-BBED-DAAF-FC6D-020BA47F6377}"/>
              </a:ext>
            </a:extLst>
          </p:cNvPr>
          <p:cNvSpPr txBox="1"/>
          <p:nvPr/>
        </p:nvSpPr>
        <p:spPr>
          <a:xfrm>
            <a:off x="7484166" y="588858"/>
            <a:ext cx="61026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 CONTROLLER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CLASS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EnergyController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FUNCTIONrecordEnergy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(data)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EnergyService.saveEnergy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(data)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FUNCTIONviewEnergy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EnergyService.getEnergy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9756218-9908-D7EA-2D7A-BCA71FB7A7D8}"/>
              </a:ext>
            </a:extLst>
          </p:cNvPr>
          <p:cNvSpPr txBox="1"/>
          <p:nvPr/>
        </p:nvSpPr>
        <p:spPr>
          <a:xfrm>
            <a:off x="100747" y="3429000"/>
            <a:ext cx="679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ENERGYSERVICE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CLASS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EnergyService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saveEnergy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(data)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store energy usage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getEnergy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return energy data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89582B8-EFB3-707C-099C-AD7F9CC67883}"/>
              </a:ext>
            </a:extLst>
          </p:cNvPr>
          <p:cNvSpPr txBox="1"/>
          <p:nvPr/>
        </p:nvSpPr>
        <p:spPr>
          <a:xfrm>
            <a:off x="7484166" y="3734415"/>
            <a:ext cx="679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 REPOSITORY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CLASS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EnergyRepository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 save(data)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store energy data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 find(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return energy data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958155" y="-19705"/>
            <a:ext cx="82144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b="1" i="1" u="sng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Arial Black" pitchFamily="34" charset="0"/>
              </a:rPr>
              <a:t>Data Base Schema for Module 3</a:t>
            </a:r>
            <a:endParaRPr lang="en-US" sz="3600" b="1" i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  <a:latin typeface="Arial Black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3600" y="904240"/>
            <a:ext cx="10251440" cy="48361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26160" y="1056640"/>
            <a:ext cx="9875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kern="100" spc="30" dirty="0">
              <a:solidFill>
                <a:srgbClr val="C00000"/>
              </a:solidFill>
              <a:latin typeface="Arial Black" pitchFamily="34" charset="0"/>
              <a:cs typeface="Arial" pitchFamily="34" charset="0"/>
            </a:endParaRPr>
          </a:p>
          <a:p>
            <a:endParaRPr lang="en-US" kern="100" spc="30" dirty="0">
              <a:solidFill>
                <a:srgbClr val="C00000"/>
              </a:solidFill>
              <a:latin typeface="Arial Black" pitchFamily="34" charset="0"/>
              <a:cs typeface="Arial" pitchFamily="34" charset="0"/>
            </a:endParaRPr>
          </a:p>
          <a:p>
            <a:endParaRPr lang="en-US" kern="100" spc="30" dirty="0">
              <a:solidFill>
                <a:srgbClr val="C00000"/>
              </a:solidFill>
              <a:latin typeface="Arial Black" pitchFamily="34" charset="0"/>
              <a:cs typeface="Arial" pitchFamily="34" charset="0"/>
            </a:endParaRPr>
          </a:p>
          <a:p>
            <a:r>
              <a:rPr lang="en-US" kern="100" spc="30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CREATE TABLE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usage_logs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</a:p>
          <a:p>
            <a:endParaRPr lang="en-US" kern="100" spc="30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log_id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     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BIGINT </a:t>
            </a:r>
            <a:r>
              <a:rPr lang="en-US" kern="100" spc="30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PRIMARY 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KEY AUTO_INCREMENT,</a:t>
            </a: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device_id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BIGINT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,                   …refers to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devices.device_id</a:t>
            </a:r>
            <a:endParaRPr lang="en-US" kern="100" spc="30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endParaRPr lang="en-US" kern="100" spc="30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usage_kw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DECIMAL 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(10,3)     …electricity consumption</a:t>
            </a: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log_time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 TIMESTAMP</a:t>
            </a:r>
            <a:r>
              <a:rPr lang="en-US" kern="100" spc="30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DEFAULT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CURRENT_TIMESTAMP</a:t>
            </a:r>
            <a:endParaRPr lang="en-US" kern="100" spc="30" dirty="0">
              <a:solidFill>
                <a:srgbClr val="FFC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989C85-1923-E6BD-F0DA-08B90660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764" y="-711765"/>
            <a:ext cx="9603275" cy="1049235"/>
          </a:xfrm>
        </p:spPr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pic>
        <p:nvPicPr>
          <p:cNvPr id="5" name="Content Placeholder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xmlns="" id="{524A8A59-A043-A6A4-9243-F645A99D3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2831939" y="1293841"/>
            <a:ext cx="6528121" cy="338233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xmlns="" val="3085264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esh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sh" id="{789EC3FE-34FD-429C-9918-760025E6C145}" vid="{0F262FD6-3409-4039-A531-64BD4D2F99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609</TotalTime>
  <Words>498</Words>
  <Application>Microsoft Office PowerPoint</Application>
  <PresentationFormat>Custom</PresentationFormat>
  <Paragraphs>109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Mesh</vt:lpstr>
      <vt:lpstr>  </vt:lpstr>
      <vt:lpstr>Slide 2</vt:lpstr>
      <vt:lpstr>Slide 3</vt:lpstr>
      <vt:lpstr>Slide 4</vt:lpstr>
      <vt:lpstr>Slide 5</vt:lpstr>
      <vt:lpstr>Slide 6</vt:lpstr>
      <vt:lpstr>Slide 7</vt:lpstr>
      <vt:lpstr>Slide 8</vt:lpstr>
      <vt:lpstr>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Anshuman Panda</dc:creator>
  <cp:lastModifiedBy>HP</cp:lastModifiedBy>
  <cp:revision>17</cp:revision>
  <dcterms:created xsi:type="dcterms:W3CDTF">2025-12-07T09:00:14Z</dcterms:created>
  <dcterms:modified xsi:type="dcterms:W3CDTF">2026-02-06T07:13:58Z</dcterms:modified>
</cp:coreProperties>
</file>