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48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1589" y="-1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ADCA4-DB59-4E33-A211-BAE61611F74A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14B762-4FA2-4371-878C-902238AEDEA2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14B762-4FA2-4371-878C-902238AEDEA2}" type="slidenum">
              <a:rPr lang="en-US" smtClean="0"/>
              <a:t>6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 dirty="0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 dirty="0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 dirty="0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128CA68-C855-4A54-875B-57C7BD2FED08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95B9A70-BB40-48D9-B5EA-0BBD0EEF9C8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128CA68-C855-4A54-875B-57C7BD2FED08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5B9A70-BB40-48D9-B5EA-0BBD0EEF9C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128CA68-C855-4A54-875B-57C7BD2FED08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5B9A70-BB40-48D9-B5EA-0BBD0EEF9C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 dirty="0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128CA68-C855-4A54-875B-57C7BD2FED08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5B9A70-BB40-48D9-B5EA-0BBD0EEF9C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128CA68-C855-4A54-875B-57C7BD2FED08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5B9A70-BB40-48D9-B5EA-0BBD0EEF9C8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128CA68-C855-4A54-875B-57C7BD2FED08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5B9A70-BB40-48D9-B5EA-0BBD0EEF9C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128CA68-C855-4A54-875B-57C7BD2FED08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5B9A70-BB40-48D9-B5EA-0BBD0EEF9C8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A128CA68-C855-4A54-875B-57C7BD2FED08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5B9A70-BB40-48D9-B5EA-0BBD0EEF9C8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128CA68-C855-4A54-875B-57C7BD2FED08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95B9A70-BB40-48D9-B5EA-0BBD0EEF9C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 dirty="0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128CA68-C855-4A54-875B-57C7BD2FED08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5B9A70-BB40-48D9-B5EA-0BBD0EEF9C8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128CA68-C855-4A54-875B-57C7BD2FED08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5B9A70-BB40-48D9-B5EA-0BBD0EEF9C8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A4D53D5-31FB-18A2-A74F-324A0AB0E2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47857C2-5D60-9565-A637-BBD0B0B31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6D8BA3F-560F-1E5F-3A01-A8D5067A5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7020B-4A49-4D7F-9CE0-1B14B095A0B7}" type="datetimeFigureOut">
              <a:rPr lang="en-IN" smtClean="0"/>
              <a:pPr/>
              <a:t>04-12-2025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DF07D8A-E860-F06F-59CA-11DB2130C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70B3C58-0EBD-7E99-F13A-30472A6C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6221-5C37-454C-9A40-186F54E1C78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329290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0386C6-F0E6-95FE-3A1C-42A219A6A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89415E2-319F-30E6-1A28-89E5A782C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F9EFA76-D461-9804-E612-F4CE6D121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7020B-4A49-4D7F-9CE0-1B14B095A0B7}" type="datetimeFigureOut">
              <a:rPr lang="en-IN" smtClean="0"/>
              <a:pPr/>
              <a:t>04-12-2025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1E1A0F8-23AD-0DE6-8063-8FE3BE5D6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5AF3473-8EC9-0963-2FBB-CD1CF41A7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6221-5C37-454C-9A40-186F54E1C78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797658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6965636-F15D-CB6B-1F20-9CAE6804C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C770406-8EC4-815C-669F-9CE984E96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31F6958-DA0B-5739-854F-22D4E09E0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7020B-4A49-4D7F-9CE0-1B14B095A0B7}" type="datetimeFigureOut">
              <a:rPr lang="en-IN" smtClean="0"/>
              <a:pPr/>
              <a:t>04-12-2025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EB3E553-15C1-D3AD-2E5C-C864BB259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04F5D52-1995-5E2D-40D1-E28611C15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6221-5C37-454C-9A40-186F54E1C78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3038147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A12B2F9-C4DD-1592-DF43-1CC3338C5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4672B87-3748-F4E0-0694-58D5C450E3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40DEF803-83E1-67AB-3D73-0F6D668220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A9F9EB1-C70E-4E78-753E-8FA6D08B0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7020B-4A49-4D7F-9CE0-1B14B095A0B7}" type="datetimeFigureOut">
              <a:rPr lang="en-IN" smtClean="0"/>
              <a:pPr/>
              <a:t>04-12-2025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3009E4C-7280-38ED-E9BD-C004DE81F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1117280-4E07-C863-4C7E-7D193CD5E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6221-5C37-454C-9A40-186F54E1C78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0834897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B16C25C-4EF0-C7E5-0F4E-FCA8C6C5C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03A2636-AD67-3CFE-24ED-99A98DBA0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BE8D592-E94C-466E-5276-1D4E95322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25BE9ED7-8FAA-77BC-0CB3-47A2C2677F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761EC61C-E850-6D98-BC25-5BD16B9BA6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FAE7D86E-4B96-7AA9-DEFF-8ECC12E6A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7020B-4A49-4D7F-9CE0-1B14B095A0B7}" type="datetimeFigureOut">
              <a:rPr lang="en-IN" smtClean="0"/>
              <a:pPr/>
              <a:t>04-12-2025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9873A862-55D2-E1B1-BBC9-1E0574BAB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FFFC0F1-F533-D23E-3A3C-0B247914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6221-5C37-454C-9A40-186F54E1C78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1632851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22F38D2-FEE6-3A15-9923-7D47717C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BAF0C33-CCEF-B933-8A1D-3B021E09D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7020B-4A49-4D7F-9CE0-1B14B095A0B7}" type="datetimeFigureOut">
              <a:rPr lang="en-IN" smtClean="0"/>
              <a:pPr/>
              <a:t>04-12-2025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71DA3258-2FEF-AF09-410D-DE0FF8D9E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1535DA9-4DBD-839C-A850-4E968575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6221-5C37-454C-9A40-186F54E1C78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0059294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EE923803-013F-6CA4-06FC-EDE542EFB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7020B-4A49-4D7F-9CE0-1B14B095A0B7}" type="datetimeFigureOut">
              <a:rPr lang="en-IN" smtClean="0"/>
              <a:pPr/>
              <a:t>04-12-2025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ED8D40F8-C928-77E1-9125-C0254EC29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C7D8445-2B61-CCD3-673C-7D878971D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6221-5C37-454C-9A40-186F54E1C78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7567624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C40DAD2-972B-2682-1423-16A9502B4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460419D-A65A-6F82-7E0A-92ACB7698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536218A-4A8F-69BA-E054-A918F8155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4591CDF-9B1E-6767-0595-F84EA58E6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7020B-4A49-4D7F-9CE0-1B14B095A0B7}" type="datetimeFigureOut">
              <a:rPr lang="en-IN" smtClean="0"/>
              <a:pPr/>
              <a:t>04-12-2025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4AD993E-D3E3-9AFA-B1BE-BBD060E8B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64BD68C-9C66-825B-E735-721386069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6221-5C37-454C-9A40-186F54E1C78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221635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7217EF-F7BB-685B-F947-C7D0ADB45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FE4FE1C2-D2CF-9C22-AD5A-1A545D32BB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D6F323A-1AC2-EB54-CEBA-ED6F3DF33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C0DA373-F476-C129-EE13-20B7D542A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7020B-4A49-4D7F-9CE0-1B14B095A0B7}" type="datetimeFigureOut">
              <a:rPr lang="en-IN" smtClean="0"/>
              <a:pPr/>
              <a:t>04-12-2025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503E8EE-A924-9756-B732-0708FD6AB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96AAD10-A71D-0512-161C-6EE8A7DDB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6221-5C37-454C-9A40-186F54E1C78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0183017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94F44D-7A19-58E5-232F-BA84222EB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E8C5E9CC-035F-C86B-64D6-95442BF5E1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DFA31EB-DF75-A794-CD2C-CCF8C3213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7020B-4A49-4D7F-9CE0-1B14B095A0B7}" type="datetimeFigureOut">
              <a:rPr lang="en-IN" smtClean="0"/>
              <a:pPr/>
              <a:t>04-12-2025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16323AD-B682-6054-C43B-2B81CD6CF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A28AD7E-F677-0AC2-138B-F5174A5B0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6221-5C37-454C-9A40-186F54E1C78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9459114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4AC9B71D-1763-2E70-75AB-A1E1222448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2CD0A9C-57E8-CEF3-4A1A-65CD0B78E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0FF4A1C-CD66-9E0A-5C1D-C098D649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7020B-4A49-4D7F-9CE0-1B14B095A0B7}" type="datetimeFigureOut">
              <a:rPr lang="en-IN" smtClean="0"/>
              <a:pPr/>
              <a:t>04-12-2025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09BAF84-524C-D735-6BF9-AACEE79D2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88405FB-BF9F-566F-E5FB-E8368A172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6221-5C37-454C-9A40-186F54E1C78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006858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A128CA68-C855-4A54-875B-57C7BD2FED08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D95B9A70-BB40-48D9-B5EA-0BBD0EEF9C8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C7118E2B-CD1D-33B1-08D0-1C22144A9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1C46D50-C325-5F88-88DF-3B713C536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EA9A387-20E8-5CAA-4296-49251EC3D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2"/>
            <a:ext cx="2057400" cy="273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47020B-4A49-4D7F-9CE0-1B14B095A0B7}" type="datetimeFigureOut">
              <a:rPr lang="en-IN" smtClean="0"/>
              <a:pPr/>
              <a:t>04-12-2025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2467AE2-CF6B-DAA0-38A3-3ED39D7F0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2"/>
            <a:ext cx="3086100" cy="273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9B4B144-F411-5497-760D-942176DCC3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2"/>
            <a:ext cx="2057400" cy="273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426221-5C37-454C-9A40-186F54E1C78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085816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28C74D5-5ADB-AE2A-9F55-16AF33135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1062632"/>
            <a:ext cx="5915025" cy="745629"/>
          </a:xfrm>
        </p:spPr>
        <p:txBody>
          <a:bodyPr lIns="68580" tIns="34290" rIns="68580" bIns="34290"/>
          <a:lstStyle/>
          <a:p>
            <a:r>
              <a:rPr lang="en-IN" dirty="0"/>
              <a:t> </a:t>
            </a:r>
          </a:p>
        </p:txBody>
      </p:sp>
      <p:pic>
        <p:nvPicPr>
          <p:cNvPr id="9" name="Content Placeholder 8" descr="A house with trees and icons&#10;&#10;AI-generated content may be incorrect.">
            <a:extLst>
              <a:ext uri="{FF2B5EF4-FFF2-40B4-BE49-F238E27FC236}">
                <a16:creationId xmlns="" xmlns:a16="http://schemas.microsoft.com/office/drawing/2014/main" id="{795774A8-C393-AA60-3A3F-76B4444DE0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35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0042"/>
            <a:ext cx="9144000" cy="5500707"/>
          </a:xfrm>
        </p:spPr>
      </p:pic>
      <p:pic>
        <p:nvPicPr>
          <p:cNvPr id="11" name="Picture 10" descr="A diagram of a house with a diagram of smoke detector&#10;&#10;AI-generated content may be incorrect.">
            <a:extLst>
              <a:ext uri="{FF2B5EF4-FFF2-40B4-BE49-F238E27FC236}">
                <a16:creationId xmlns="" xmlns:a16="http://schemas.microsoft.com/office/drawing/2014/main" id="{50E90298-275B-88F7-A872-51EE2E75D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3571877"/>
            <a:ext cx="4243386" cy="2245992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  <a:effectLst>
            <a:softEdge rad="112500"/>
          </a:effectLst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E058C7C7-2CBF-6B86-69A7-C74475366181}"/>
              </a:ext>
            </a:extLst>
          </p:cNvPr>
          <p:cNvSpPr txBox="1"/>
          <p:nvPr/>
        </p:nvSpPr>
        <p:spPr>
          <a:xfrm>
            <a:off x="214282" y="500042"/>
            <a:ext cx="8829675" cy="6232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kumimoji="0" lang="en-IN" sz="3600" b="1" i="0" u="sng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>
                  <a:glow rad="63500">
                    <a:srgbClr val="E97132">
                      <a:satMod val="175000"/>
                      <a:alpha val="40000"/>
                    </a:srgbClr>
                  </a:glow>
                </a:effectLst>
                <a:uLnTx/>
                <a:uFillTx/>
                <a:latin typeface="Bahnschrift" pitchFamily="34" charset="0"/>
                <a:ea typeface="+mj-ea"/>
                <a:cs typeface="Arial" pitchFamily="34" charset="0"/>
              </a:rPr>
              <a:t>Smart Home </a:t>
            </a:r>
            <a:r>
              <a:rPr kumimoji="0" lang="en-IN" sz="3600" b="1" i="0" u="sng" strike="noStrike" kern="1200" cap="none" spc="0" normalizeH="0" baseline="0" noProof="0" dirty="0" smtClean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>
                  <a:glow rad="63500">
                    <a:srgbClr val="E97132">
                      <a:satMod val="175000"/>
                      <a:alpha val="40000"/>
                    </a:srgbClr>
                  </a:glow>
                </a:effectLst>
                <a:uLnTx/>
                <a:uFillTx/>
                <a:latin typeface="Bahnschrift" pitchFamily="34" charset="0"/>
                <a:ea typeface="+mj-ea"/>
                <a:cs typeface="Arial" pitchFamily="34" charset="0"/>
              </a:rPr>
              <a:t>Energy Management </a:t>
            </a:r>
            <a:r>
              <a:rPr kumimoji="0" lang="en-IN" sz="3600" b="1" i="0" u="sng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>
                  <a:glow rad="63500">
                    <a:srgbClr val="E97132">
                      <a:satMod val="175000"/>
                      <a:alpha val="40000"/>
                    </a:srgbClr>
                  </a:glow>
                </a:effectLst>
                <a:uLnTx/>
                <a:uFillTx/>
                <a:latin typeface="Bahnschrift" pitchFamily="34" charset="0"/>
                <a:ea typeface="+mj-ea"/>
                <a:cs typeface="Arial" pitchFamily="34" charset="0"/>
              </a:rPr>
              <a:t>System</a:t>
            </a:r>
            <a:endParaRPr lang="en-IN" sz="3600" b="1" u="sng" dirty="0">
              <a:latin typeface="Bahnschrift" pitchFamily="34" charset="0"/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4068BBEC-2F16-29AC-C006-255CBBDF560B}"/>
              </a:ext>
            </a:extLst>
          </p:cNvPr>
          <p:cNvSpPr txBox="1"/>
          <p:nvPr/>
        </p:nvSpPr>
        <p:spPr>
          <a:xfrm>
            <a:off x="0" y="2285992"/>
            <a:ext cx="4572000" cy="71558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n-IN" dirty="0"/>
              <a:t> </a:t>
            </a:r>
            <a:r>
              <a:rPr lang="en-IN" sz="2100" b="1" dirty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Presented By-</a:t>
            </a:r>
          </a:p>
          <a:p>
            <a:r>
              <a:rPr lang="en-IN" sz="2100" dirty="0" smtClean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         Dibya </a:t>
            </a:r>
            <a:r>
              <a:rPr lang="en-IN" sz="2100" dirty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Patra    </a:t>
            </a:r>
            <a:endParaRPr lang="en-IN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58530062-1983-C5A5-34B6-880AFC2A6D35}"/>
              </a:ext>
            </a:extLst>
          </p:cNvPr>
          <p:cNvSpPr txBox="1"/>
          <p:nvPr/>
        </p:nvSpPr>
        <p:spPr>
          <a:xfrm>
            <a:off x="5072066" y="5286388"/>
            <a:ext cx="4572000" cy="71558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n-IN" sz="2100" b="1" dirty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Under The Guidance Of-</a:t>
            </a:r>
          </a:p>
          <a:p>
            <a:r>
              <a:rPr lang="en-IN" sz="2100" dirty="0" smtClean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                          Dr</a:t>
            </a:r>
            <a:r>
              <a:rPr lang="en-IN" sz="2100" dirty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. T. Premalatha </a:t>
            </a:r>
          </a:p>
        </p:txBody>
      </p:sp>
    </p:spTree>
    <p:extLst>
      <p:ext uri="{BB962C8B-B14F-4D97-AF65-F5344CB8AC3E}">
        <p14:creationId xmlns="" xmlns:p14="http://schemas.microsoft.com/office/powerpoint/2010/main" val="648124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406" y="5340"/>
            <a:ext cx="11031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|   </a:t>
            </a:r>
            <a:endParaRPr lang="en-US" sz="5400" b="1" cap="none" spc="0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5720" y="142852"/>
            <a:ext cx="774673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3200" b="1" u="sng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SMART HOME ENERGY MANAGEMENT</a:t>
            </a:r>
            <a:endParaRPr lang="en-US" sz="3200" b="1" u="sng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4282" y="642918"/>
            <a:ext cx="83582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>
              <a:buFont typeface="Wingdings" pitchFamily="2" charset="2"/>
              <a:buChar char="q"/>
            </a:pPr>
            <a:r>
              <a:rPr lang="en-US" b="1" dirty="0" smtClean="0"/>
              <a:t> </a:t>
            </a:r>
            <a:r>
              <a:rPr lang="en-US" sz="1600" b="1" dirty="0" smtClean="0"/>
              <a:t>SHEM:</a:t>
            </a:r>
            <a:r>
              <a:rPr lang="en-US" sz="1600" dirty="0" smtClean="0"/>
              <a:t> A software platform that </a:t>
            </a:r>
            <a:r>
              <a:rPr lang="en-US" sz="1600" i="1" dirty="0" smtClean="0"/>
              <a:t>monitors</a:t>
            </a:r>
            <a:r>
              <a:rPr lang="en-US" sz="1600" dirty="0" smtClean="0"/>
              <a:t>, </a:t>
            </a:r>
            <a:r>
              <a:rPr lang="en-US" sz="1600" i="1" dirty="0" smtClean="0"/>
              <a:t>controls</a:t>
            </a:r>
            <a:r>
              <a:rPr lang="en-US" sz="1600" dirty="0" smtClean="0"/>
              <a:t>,  and </a:t>
            </a:r>
            <a:r>
              <a:rPr lang="en-US" sz="1600" i="1" dirty="0" smtClean="0"/>
              <a:t>optimizes</a:t>
            </a:r>
            <a:r>
              <a:rPr lang="en-US" sz="1600" dirty="0" smtClean="0"/>
              <a:t> household energy flows (generation, storage consumption) to reduce cost, improve comfort and lower emissions. </a:t>
            </a:r>
          </a:p>
          <a:p>
            <a:pPr marL="182563"/>
            <a:endParaRPr lang="en-IN" dirty="0"/>
          </a:p>
          <a:p>
            <a:pPr marL="182563"/>
            <a:endParaRPr lang="en-US" dirty="0" smtClean="0"/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0" y="2214554"/>
            <a:ext cx="8358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714488"/>
            <a:ext cx="9144000" cy="54292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WhatsApp Image 2025-12-03 at 16.30.29_58cc99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44" y="3661196"/>
            <a:ext cx="4572000" cy="3411142"/>
          </a:xfrm>
          <a:prstGeom prst="rect">
            <a:avLst/>
          </a:prstGeom>
        </p:spPr>
      </p:pic>
      <p:pic>
        <p:nvPicPr>
          <p:cNvPr id="9" name="Picture 8" descr="WhatsApp Image 2025-12-03 at 16.30.29_6b5e3e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2" y="2143116"/>
            <a:ext cx="73602" cy="4857760"/>
          </a:xfrm>
          <a:prstGeom prst="rect">
            <a:avLst/>
          </a:prstGeom>
        </p:spPr>
      </p:pic>
      <p:pic>
        <p:nvPicPr>
          <p:cNvPr id="10" name="Picture 9" descr="WhatsApp Image 2025-12-03 at 16.30.29_6b5e3e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6" y="2143116"/>
            <a:ext cx="73602" cy="4857760"/>
          </a:xfrm>
          <a:prstGeom prst="rect">
            <a:avLst/>
          </a:prstGeom>
        </p:spPr>
      </p:pic>
      <p:pic>
        <p:nvPicPr>
          <p:cNvPr id="11" name="Picture 10" descr="WhatsApp Image 2025-12-03 at 16.30.29_ce0146d4.jpg"/>
          <p:cNvPicPr>
            <a:picLocks noChangeAspect="1"/>
          </p:cNvPicPr>
          <p:nvPr/>
        </p:nvPicPr>
        <p:blipFill>
          <a:blip r:embed="rId4">
            <a:lum bright="-19000" contrast="-9000"/>
          </a:blip>
          <a:stretch>
            <a:fillRect/>
          </a:stretch>
        </p:blipFill>
        <p:spPr>
          <a:xfrm>
            <a:off x="4857784" y="3643314"/>
            <a:ext cx="4000496" cy="3429024"/>
          </a:xfrm>
          <a:prstGeom prst="rect">
            <a:avLst/>
          </a:prstGeom>
          <a:ln cmpd="dbl">
            <a:solidFill>
              <a:schemeClr val="tx1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214282" y="2083536"/>
            <a:ext cx="442915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Smart Home </a:t>
            </a:r>
          </a:p>
          <a:p>
            <a:endParaRPr lang="en-US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It residence equipped with devices that can be controlled remotely or autonomously. These devices are interconnected and integrated with a central system</a:t>
            </a: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14876" y="2073654"/>
            <a:ext cx="42862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Arial" pitchFamily="34" charset="0"/>
                <a:cs typeface="Arial" pitchFamily="34" charset="0"/>
              </a:rPr>
              <a:t>Energy Management</a:t>
            </a:r>
          </a:p>
          <a:p>
            <a:endParaRPr lang="en-US" sz="1600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Encompasses the planning and operation of energy production and consumption. /in a smart home context, it focuses on optimizing energy use for efficiency and cost savings</a:t>
            </a:r>
            <a:r>
              <a:rPr lang="en-US" sz="16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2844" y="1428736"/>
            <a:ext cx="8786874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/>
            <a:r>
              <a:rPr lang="en-US" sz="2200" dirty="0" smtClean="0"/>
              <a:t>Current traditional home energy setups face significant limitations that lead to inefficiency and user frustration.</a:t>
            </a:r>
          </a:p>
          <a:p>
            <a:pPr marL="144000"/>
            <a:endParaRPr lang="en-US" sz="2000" dirty="0" smtClean="0"/>
          </a:p>
          <a:p>
            <a:pPr marL="144000"/>
            <a:endParaRPr lang="en-US" dirty="0" smtClean="0"/>
          </a:p>
          <a:p>
            <a:pPr marL="144000"/>
            <a:endParaRPr lang="en-US" dirty="0" smtClean="0"/>
          </a:p>
          <a:p>
            <a:pPr marL="981075" indent="-85725">
              <a:buFont typeface="Wingdings" pitchFamily="2" charset="2"/>
              <a:buChar char="§"/>
            </a:pPr>
            <a:r>
              <a:rPr lang="en-US" dirty="0" smtClean="0"/>
              <a:t> </a:t>
            </a:r>
            <a:r>
              <a:rPr lang="en-US" sz="1900" b="1" dirty="0" smtClean="0"/>
              <a:t>No Real</a:t>
            </a:r>
            <a:r>
              <a:rPr lang="en-US" dirty="0" smtClean="0"/>
              <a:t>-Time Visibility: Users only see their consumption </a:t>
            </a:r>
          </a:p>
          <a:p>
            <a:pPr marL="144000"/>
            <a:r>
              <a:rPr lang="en-US" dirty="0" smtClean="0"/>
              <a:t>            when the monthly bill arrives, making it impossible to </a:t>
            </a:r>
          </a:p>
          <a:p>
            <a:pPr marL="144000"/>
            <a:r>
              <a:rPr lang="en-US" dirty="0" smtClean="0"/>
              <a:t>            adjust habits proactively</a:t>
            </a:r>
          </a:p>
          <a:p>
            <a:pPr marL="144000">
              <a:buFont typeface="Wingdings" pitchFamily="2" charset="2"/>
              <a:buChar char="§"/>
            </a:pPr>
            <a:endParaRPr lang="en-US" dirty="0" smtClean="0"/>
          </a:p>
          <a:p>
            <a:pPr marL="144000"/>
            <a:endParaRPr lang="en-US" dirty="0" smtClean="0"/>
          </a:p>
          <a:p>
            <a:pPr marL="981075" indent="-85725">
              <a:buFont typeface="Wingdings" pitchFamily="2" charset="2"/>
              <a:buChar char="§"/>
            </a:pPr>
            <a:r>
              <a:rPr lang="en-US" sz="1900" b="1" dirty="0" smtClean="0"/>
              <a:t> Manual Control:-</a:t>
            </a:r>
            <a:r>
              <a:rPr lang="en-US" dirty="0" smtClean="0"/>
              <a:t>Devices must be physically switched</a:t>
            </a:r>
          </a:p>
          <a:p>
            <a:pPr marL="981075" indent="-85725"/>
            <a:r>
              <a:rPr lang="en-US" dirty="0" smtClean="0"/>
              <a:t>   on/off. No automation exists for "forgotten" lights or appliances.</a:t>
            </a:r>
          </a:p>
          <a:p>
            <a:pPr marL="144000"/>
            <a:endParaRPr lang="en-US" dirty="0" smtClean="0"/>
          </a:p>
          <a:p>
            <a:pPr marL="1077913" indent="-96838">
              <a:buFont typeface="Wingdings" pitchFamily="2" charset="2"/>
              <a:buChar char="§"/>
            </a:pPr>
            <a:r>
              <a:rPr lang="en-US" sz="1900" b="1" dirty="0" smtClean="0"/>
              <a:t>High Energy Waste: -</a:t>
            </a:r>
            <a:r>
              <a:rPr lang="en-US" dirty="0" smtClean="0"/>
              <a:t>"Vampire power" and inefficient scheduling contribute to higher carbon footprints and electricity costs.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31600"/>
            <a:ext cx="883575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|  </a:t>
            </a:r>
            <a:endParaRPr lang="en-US" sz="5400" b="1" dirty="0" smtClean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pPr algn="ctr"/>
            <a:endParaRPr lang="en-US" sz="5400" b="1" cap="none" spc="0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2083" y="142852"/>
            <a:ext cx="712456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3600" b="1" u="sng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EXISTING SYSTEM CHALLENGES</a:t>
            </a:r>
            <a:endParaRPr lang="en-US" sz="3600" b="1" u="sng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8580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60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|  </a:t>
            </a:r>
            <a:endParaRPr lang="en-US" sz="6000" b="1" dirty="0" smtClean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pPr algn="ctr"/>
            <a:endParaRPr lang="en-US" sz="6000" b="1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0034" y="142852"/>
            <a:ext cx="720742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u="sng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Proposed System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844" y="715202"/>
            <a:ext cx="721523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b="1" u="sng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sz="2000" b="1" u="sng" dirty="0" smtClean="0">
                <a:latin typeface="Arial" pitchFamily="34" charset="0"/>
                <a:cs typeface="Arial" pitchFamily="34" charset="0"/>
              </a:rPr>
              <a:t>Proposed System:</a:t>
            </a:r>
          </a:p>
          <a:p>
            <a:pPr lvl="1"/>
            <a:endParaRPr lang="en-US" dirty="0" smtClean="0"/>
          </a:p>
          <a:p>
            <a:pPr lvl="2">
              <a:buFont typeface="Wingdings" pitchFamily="2" charset="2"/>
              <a:buChar char="q"/>
            </a:pPr>
            <a:r>
              <a:rPr lang="en-US" dirty="0" smtClean="0"/>
              <a:t>Smart automated control of home devices</a:t>
            </a:r>
          </a:p>
          <a:p>
            <a:pPr lvl="2">
              <a:buFont typeface="Wingdings" pitchFamily="2" charset="2"/>
              <a:buChar char="q"/>
            </a:pPr>
            <a:r>
              <a:rPr lang="en-US" dirty="0" smtClean="0"/>
              <a:t>Real-time energy monitoring and reports</a:t>
            </a:r>
          </a:p>
          <a:p>
            <a:pPr lvl="2">
              <a:buFont typeface="Wingdings" pitchFamily="2" charset="2"/>
              <a:buChar char="q"/>
            </a:pPr>
            <a:r>
              <a:rPr lang="en-US" dirty="0" smtClean="0"/>
              <a:t>Secure Java-based login with role-based access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00034" y="2570047"/>
            <a:ext cx="7643866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/>
              <a:t>Modules And Works</a:t>
            </a:r>
          </a:p>
          <a:p>
            <a:r>
              <a:rPr lang="en-IN" dirty="0" smtClean="0"/>
              <a:t>There are 6 module:--</a:t>
            </a:r>
            <a:endParaRPr lang="en-US" dirty="0" smtClean="0"/>
          </a:p>
          <a:p>
            <a:endParaRPr lang="en-US" dirty="0" smtClean="0"/>
          </a:p>
          <a:p>
            <a:pPr marL="342900" indent="-342900">
              <a:buAutoNum type="arabicPeriod"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User Authentication &amp; Access Control: </a:t>
            </a:r>
            <a:r>
              <a:rPr lang="en-US" sz="1700" dirty="0" smtClean="0"/>
              <a:t>Secure login, user roles</a:t>
            </a:r>
            <a:r>
              <a:rPr lang="en-US" dirty="0" smtClean="0"/>
              <a:t>, </a:t>
            </a:r>
            <a:r>
              <a:rPr lang="en-US" sz="1700" dirty="0" smtClean="0"/>
              <a:t>and access permissions.</a:t>
            </a:r>
          </a:p>
          <a:p>
            <a:pPr marL="342900" indent="-342900">
              <a:buAutoNum type="arabicPeriod"/>
            </a:pPr>
            <a:r>
              <a:rPr lang="en-US" dirty="0" smtClean="0"/>
              <a:t>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Device Registration &amp; Management: </a:t>
            </a:r>
            <a:r>
              <a:rPr lang="en-US" sz="1700" dirty="0" smtClean="0"/>
              <a:t>Add, update, and manage smart devices in the home.</a:t>
            </a:r>
          </a:p>
          <a:p>
            <a:pPr marL="342900" indent="-342900">
              <a:buAutoNum type="arabicPeriod"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Real-Time Energy Monitoring: </a:t>
            </a:r>
            <a:r>
              <a:rPr lang="en-US" sz="1700" dirty="0" smtClean="0"/>
              <a:t>Track energy usage of connected devices in real time</a:t>
            </a:r>
          </a:p>
          <a:p>
            <a:pPr marL="342900" indent="-342900">
              <a:buAutoNum type="arabicPeriod"/>
            </a:pPr>
            <a:r>
              <a:rPr lang="en-US" sz="1700" dirty="0" smtClean="0"/>
              <a:t>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Automation Rules / Scheduling</a:t>
            </a:r>
            <a:r>
              <a:rPr lang="en-US" sz="1700" dirty="0" smtClean="0"/>
              <a:t>: Automate device operations using rules and time schedules.</a:t>
            </a:r>
          </a:p>
          <a:p>
            <a:pPr marL="342900" indent="-342900">
              <a:buAutoNum type="arabicPeriod"/>
            </a:pPr>
            <a:r>
              <a:rPr lang="en-US" sz="1700" dirty="0" smtClean="0"/>
              <a:t>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Alerts &amp; Notifications</a:t>
            </a:r>
            <a:r>
              <a:rPr lang="en-US" sz="1700" dirty="0" smtClean="0"/>
              <a:t>: Send alerts on abnormal usage or important energy events.</a:t>
            </a:r>
          </a:p>
          <a:p>
            <a:pPr marL="342900" indent="-342900">
              <a:buAutoNum type="arabicPeriod"/>
            </a:pPr>
            <a:r>
              <a:rPr lang="en-US" sz="1700" dirty="0" smtClean="0"/>
              <a:t>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Analytics &amp; Reports</a:t>
            </a:r>
            <a:r>
              <a:rPr lang="en-US" sz="1700" dirty="0" smtClean="0"/>
              <a:t>: Generate insights, trends, and usage reports for optimization.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flipV="1">
            <a:off x="-357222" y="-1928850"/>
            <a:ext cx="15716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|  </a:t>
            </a:r>
            <a:endParaRPr lang="en-US" sz="6000" b="1" dirty="0" smtClean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pPr algn="ctr"/>
            <a:endParaRPr lang="en-US" sz="6000" b="1" dirty="0" smtClean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endParaRPr lang="en-US" sz="6000" dirty="0"/>
          </a:p>
        </p:txBody>
      </p:sp>
      <p:sp>
        <p:nvSpPr>
          <p:cNvPr id="3" name="Rectangle 2"/>
          <p:cNvSpPr/>
          <p:nvPr/>
        </p:nvSpPr>
        <p:spPr>
          <a:xfrm>
            <a:off x="500034" y="87791"/>
            <a:ext cx="588013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3600" b="1" u="sng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SYSTEM</a:t>
            </a:r>
            <a:r>
              <a:rPr lang="en-IN" sz="4400" b="1" u="sng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 </a:t>
            </a:r>
            <a:r>
              <a:rPr lang="en-IN" sz="3600" b="1" u="sng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CONFIGURATION</a:t>
            </a:r>
            <a:endParaRPr lang="en-US" sz="3600" b="1" u="sng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472" y="928670"/>
            <a:ext cx="8072494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/>
              <a:t>Frontend:- </a:t>
            </a:r>
            <a:r>
              <a:rPr lang="en-US" dirty="0" smtClean="0"/>
              <a:t>HTML, CSS3, Bootstrap, </a:t>
            </a:r>
            <a:r>
              <a:rPr lang="en-US" dirty="0" smtClean="0"/>
              <a:t>Thymeleaf</a:t>
            </a:r>
            <a:r>
              <a:rPr lang="en-US" dirty="0" smtClean="0"/>
              <a:t>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sz="2400" b="1" dirty="0" smtClean="0"/>
              <a:t>Backend</a:t>
            </a:r>
            <a:r>
              <a:rPr lang="en-US" sz="2400" b="1" dirty="0" smtClean="0"/>
              <a:t>:- </a:t>
            </a:r>
            <a:r>
              <a:rPr lang="en-US" dirty="0" smtClean="0"/>
              <a:t>Java 21, Spring Boot, Spring MVC, Hibernate/JPA,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 </a:t>
            </a:r>
            <a:r>
              <a:rPr lang="en-US" dirty="0" smtClean="0"/>
              <a:t>                   </a:t>
            </a:r>
            <a:r>
              <a:rPr lang="en-US" dirty="0" smtClean="0"/>
              <a:t>REST API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sz="2400" b="1" dirty="0" smtClean="0"/>
              <a:t>Database:- </a:t>
            </a:r>
            <a:r>
              <a:rPr lang="en-US" dirty="0" smtClean="0"/>
              <a:t>MySQL</a:t>
            </a:r>
            <a:r>
              <a:rPr lang="en-US" dirty="0" smtClean="0"/>
              <a:t>/MYSQL Workbench• 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Tools &amp; </a:t>
            </a:r>
            <a:r>
              <a:rPr lang="en-US" sz="2400" b="1" dirty="0" smtClean="0"/>
              <a:t>IDE:-</a:t>
            </a:r>
            <a:r>
              <a:rPr lang="en-US" dirty="0" smtClean="0"/>
              <a:t>IntelliJ</a:t>
            </a:r>
            <a:r>
              <a:rPr lang="en-US" dirty="0" smtClean="0"/>
              <a:t> </a:t>
            </a:r>
            <a:r>
              <a:rPr lang="en-US" dirty="0" smtClean="0"/>
              <a:t>IDEA</a:t>
            </a:r>
          </a:p>
          <a:p>
            <a:pPr>
              <a:lnSpc>
                <a:spcPct val="150000"/>
              </a:lnSpc>
            </a:pPr>
            <a:r>
              <a:rPr lang="en-US" b="1" dirty="0" smtClean="0"/>
              <a:t> </a:t>
            </a:r>
            <a:r>
              <a:rPr lang="en-US" b="1" dirty="0" smtClean="0"/>
              <a:t>Postman</a:t>
            </a:r>
            <a:endParaRPr lang="en-US" b="1" dirty="0" smtClean="0"/>
          </a:p>
          <a:p>
            <a:pPr>
              <a:lnSpc>
                <a:spcPct val="150000"/>
              </a:lnSpc>
            </a:pPr>
            <a:r>
              <a:rPr lang="en-IN" dirty="0" smtClean="0"/>
              <a:t>   -Testing REST APIS</a:t>
            </a:r>
          </a:p>
          <a:p>
            <a:pPr>
              <a:lnSpc>
                <a:spcPct val="150000"/>
              </a:lnSpc>
            </a:pPr>
            <a:r>
              <a:rPr lang="en-IN" dirty="0" smtClean="0"/>
              <a:t> </a:t>
            </a:r>
            <a:r>
              <a:rPr lang="en-IN" dirty="0" smtClean="0"/>
              <a:t> - Checking backend functionality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 </a:t>
            </a:r>
            <a:r>
              <a:rPr lang="en-US" b="1" dirty="0" smtClean="0"/>
              <a:t>Maven</a:t>
            </a:r>
          </a:p>
          <a:p>
            <a:pPr>
              <a:lnSpc>
                <a:spcPct val="150000"/>
              </a:lnSpc>
            </a:pPr>
            <a:r>
              <a:rPr lang="en-IN" b="1" dirty="0" smtClean="0"/>
              <a:t> </a:t>
            </a:r>
            <a:r>
              <a:rPr lang="en-IN" b="1" dirty="0" smtClean="0"/>
              <a:t> - </a:t>
            </a:r>
            <a:r>
              <a:rPr lang="en-IN" dirty="0" smtClean="0"/>
              <a:t>Automatically manage project dependencies</a:t>
            </a:r>
            <a:endParaRPr lang="en-US" b="1" dirty="0" smtClean="0"/>
          </a:p>
          <a:p>
            <a:pPr>
              <a:lnSpc>
                <a:spcPct val="150000"/>
              </a:lnSpc>
            </a:pPr>
            <a:r>
              <a:rPr lang="en-US" b="1" dirty="0" smtClean="0"/>
              <a:t> </a:t>
            </a:r>
            <a:r>
              <a:rPr lang="en-US" b="1" dirty="0" smtClean="0"/>
              <a:t>GitHub</a:t>
            </a:r>
            <a:endParaRPr lang="en-US" b="1" dirty="0" smtClean="0"/>
          </a:p>
          <a:p>
            <a:pPr>
              <a:lnSpc>
                <a:spcPct val="150000"/>
              </a:lnSpc>
            </a:pPr>
            <a:r>
              <a:rPr lang="en-IN" b="1" dirty="0" smtClean="0"/>
              <a:t>    - </a:t>
            </a:r>
            <a:r>
              <a:rPr lang="en-IN" dirty="0" smtClean="0"/>
              <a:t>To upload project </a:t>
            </a:r>
            <a:r>
              <a:rPr lang="en-IN" dirty="0" smtClean="0"/>
              <a:t>online</a:t>
            </a:r>
            <a:endParaRPr lang="en-US" b="1" dirty="0" smtClean="0"/>
          </a:p>
          <a:p>
            <a:pPr>
              <a:lnSpc>
                <a:spcPct val="150000"/>
              </a:lnSpc>
            </a:pPr>
            <a:endParaRPr lang="en-IN" dirty="0" smtClean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38" y="142852"/>
            <a:ext cx="6929486" cy="65008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214290"/>
            <a:ext cx="521497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Includes 4 Main Classes</a:t>
            </a:r>
            <a:r>
              <a:rPr lang="en-US" dirty="0" smtClean="0"/>
              <a:t>:-</a:t>
            </a:r>
          </a:p>
          <a:p>
            <a:endParaRPr lang="en-US" dirty="0" smtClean="0"/>
          </a:p>
          <a:p>
            <a:r>
              <a:rPr lang="en-US" dirty="0" smtClean="0"/>
              <a:t>These module </a:t>
            </a:r>
            <a:r>
              <a:rPr lang="en-US" dirty="0" smtClean="0"/>
              <a:t>manages login, registration, user </a:t>
            </a:r>
            <a:r>
              <a:rPr lang="en-US" dirty="0" smtClean="0"/>
              <a:t>validation,access</a:t>
            </a:r>
            <a:r>
              <a:rPr lang="en-US" dirty="0" smtClean="0"/>
              <a:t> </a:t>
            </a:r>
            <a:r>
              <a:rPr lang="en-US" dirty="0" smtClean="0"/>
              <a:t>control, and database linkage</a:t>
            </a:r>
            <a:r>
              <a:rPr lang="en-US" dirty="0" smtClean="0"/>
              <a:t>.</a:t>
            </a:r>
          </a:p>
          <a:p>
            <a:r>
              <a:rPr lang="en-US" dirty="0" smtClean="0"/>
              <a:t>Usage </a:t>
            </a:r>
            <a:r>
              <a:rPr lang="en-US" dirty="0" smtClean="0"/>
              <a:t>of Each </a:t>
            </a:r>
            <a:r>
              <a:rPr lang="en-US" dirty="0" smtClean="0"/>
              <a:t>Class</a:t>
            </a:r>
          </a:p>
          <a:p>
            <a:r>
              <a:rPr lang="en-US" dirty="0" smtClean="0"/>
              <a:t> </a:t>
            </a:r>
            <a:endParaRPr lang="en-US" dirty="0" smtClean="0"/>
          </a:p>
          <a:p>
            <a:pPr marL="342900" indent="-342900">
              <a:buAutoNum type="arabicPeriod"/>
            </a:pPr>
            <a:r>
              <a:rPr lang="en-US" dirty="0" smtClean="0"/>
              <a:t>User:- Represents </a:t>
            </a:r>
            <a:r>
              <a:rPr lang="en-US" dirty="0" smtClean="0"/>
              <a:t>database table for storing user details</a:t>
            </a:r>
            <a:r>
              <a:rPr lang="en-US" dirty="0" smtClean="0"/>
              <a:t>.</a:t>
            </a:r>
          </a:p>
          <a:p>
            <a:pPr marL="342900" indent="-342900">
              <a:buAutoNum type="arabicPeriod"/>
            </a:pPr>
            <a:endParaRPr lang="en-US" dirty="0" smtClean="0"/>
          </a:p>
          <a:p>
            <a:pPr marL="342900" indent="-342900">
              <a:buAutoNum type="arabicPeriod"/>
            </a:pPr>
            <a:r>
              <a:rPr lang="en-US" dirty="0" smtClean="0"/>
              <a:t> </a:t>
            </a:r>
            <a:r>
              <a:rPr lang="en-US" dirty="0" smtClean="0"/>
              <a:t>UserRepository</a:t>
            </a:r>
            <a:r>
              <a:rPr lang="en-US" dirty="0" smtClean="0"/>
              <a:t>:-Performs </a:t>
            </a:r>
            <a:r>
              <a:rPr lang="en-US" dirty="0" smtClean="0"/>
              <a:t>CRUD operations and DB queries</a:t>
            </a:r>
            <a:r>
              <a:rPr lang="en-US" dirty="0" smtClean="0"/>
              <a:t>.</a:t>
            </a:r>
          </a:p>
          <a:p>
            <a:pPr marL="342900" indent="-342900">
              <a:buAutoNum type="arabicPeriod"/>
            </a:pPr>
            <a:endParaRPr lang="en-US" dirty="0" smtClean="0"/>
          </a:p>
          <a:p>
            <a:pPr marL="342900" indent="-342900">
              <a:buAutoNum type="arabicPeriod"/>
            </a:pPr>
            <a:r>
              <a:rPr lang="en-US" dirty="0" smtClean="0"/>
              <a:t> </a:t>
            </a:r>
            <a:r>
              <a:rPr lang="en-US" dirty="0" smtClean="0"/>
              <a:t>AuthService</a:t>
            </a:r>
            <a:r>
              <a:rPr lang="en-US" dirty="0" smtClean="0"/>
              <a:t>:-Contains </a:t>
            </a:r>
            <a:r>
              <a:rPr lang="en-US" dirty="0" smtClean="0"/>
              <a:t>authentication business logic (login, register, logout</a:t>
            </a:r>
            <a:r>
              <a:rPr lang="en-US" dirty="0" smtClean="0"/>
              <a:t>).</a:t>
            </a:r>
          </a:p>
          <a:p>
            <a:pPr marL="342900" indent="-342900">
              <a:buAutoNum type="arabicPeriod"/>
            </a:pPr>
            <a:endParaRPr lang="en-US" dirty="0" smtClean="0"/>
          </a:p>
          <a:p>
            <a:pPr marL="342900" indent="-342900">
              <a:buAutoNum type="arabicPeriod"/>
            </a:pPr>
            <a:r>
              <a:rPr lang="en-US" dirty="0" smtClean="0"/>
              <a:t> </a:t>
            </a:r>
            <a:r>
              <a:rPr lang="en-US" dirty="0" smtClean="0"/>
              <a:t>AuthController</a:t>
            </a:r>
            <a:r>
              <a:rPr lang="en-US" dirty="0" smtClean="0"/>
              <a:t>:- Handles </a:t>
            </a:r>
            <a:r>
              <a:rPr lang="en-US" dirty="0" smtClean="0"/>
              <a:t>HTTP API requests and communicates with </a:t>
            </a:r>
            <a:r>
              <a:rPr lang="en-US" dirty="0" smtClean="0"/>
              <a:t>AuthService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143636" y="285728"/>
            <a:ext cx="2857520" cy="5357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286512" y="357166"/>
            <a:ext cx="2643206" cy="4247317"/>
          </a:xfrm>
          <a:prstGeom prst="rect">
            <a:avLst/>
          </a:prstGeom>
          <a:noFill/>
        </p:spPr>
        <p:txBody>
          <a:bodyPr wrap="square" lIns="108000" rtlCol="0" anchor="ctr">
            <a:spAutoFit/>
          </a:bodyPr>
          <a:lstStyle/>
          <a:p>
            <a:r>
              <a:rPr lang="en-US" dirty="0" smtClean="0"/>
              <a:t> </a:t>
            </a:r>
            <a:r>
              <a:rPr lang="en-US" dirty="0" smtClean="0"/>
              <a:t>    User  </a:t>
            </a:r>
            <a:endParaRPr lang="en-US" dirty="0" smtClean="0"/>
          </a:p>
          <a:p>
            <a:r>
              <a:rPr lang="en-US" dirty="0" smtClean="0"/>
              <a:t>        ↓</a:t>
            </a:r>
          </a:p>
          <a:p>
            <a:r>
              <a:rPr lang="en-US" dirty="0" smtClean="0"/>
              <a:t>  </a:t>
            </a:r>
            <a:r>
              <a:rPr lang="en-US" dirty="0" smtClean="0"/>
              <a:t>AuthController</a:t>
            </a:r>
            <a:r>
              <a:rPr lang="en-US" dirty="0" smtClean="0"/>
              <a:t>   </a:t>
            </a:r>
          </a:p>
          <a:p>
            <a:r>
              <a:rPr lang="en-US" dirty="0" smtClean="0"/>
              <a:t>        ↓</a:t>
            </a:r>
          </a:p>
          <a:p>
            <a:r>
              <a:rPr lang="en-US" dirty="0" smtClean="0"/>
              <a:t>  </a:t>
            </a:r>
            <a:r>
              <a:rPr lang="en-US" dirty="0" smtClean="0"/>
              <a:t>AuthService</a:t>
            </a:r>
            <a:r>
              <a:rPr lang="en-US" dirty="0" smtClean="0"/>
              <a:t>    </a:t>
            </a:r>
          </a:p>
          <a:p>
            <a:r>
              <a:rPr lang="en-US" dirty="0" smtClean="0"/>
              <a:t>        ↓</a:t>
            </a:r>
          </a:p>
          <a:p>
            <a:r>
              <a:rPr lang="en-US" dirty="0" smtClean="0"/>
              <a:t>  </a:t>
            </a:r>
            <a:r>
              <a:rPr lang="en-US" dirty="0" smtClean="0"/>
              <a:t>UserRepository</a:t>
            </a:r>
            <a:r>
              <a:rPr lang="en-US" dirty="0" smtClean="0"/>
              <a:t> </a:t>
            </a:r>
          </a:p>
          <a:p>
            <a:r>
              <a:rPr lang="en-US" dirty="0" smtClean="0"/>
              <a:t>        ↓</a:t>
            </a:r>
          </a:p>
          <a:p>
            <a:r>
              <a:rPr lang="en-US" dirty="0" smtClean="0"/>
              <a:t>Database (User Table)   </a:t>
            </a:r>
          </a:p>
          <a:p>
            <a:r>
              <a:rPr lang="en-US" dirty="0" smtClean="0"/>
              <a:t>        ↑   </a:t>
            </a:r>
          </a:p>
          <a:p>
            <a:r>
              <a:rPr lang="en-US" dirty="0" smtClean="0"/>
              <a:t> </a:t>
            </a:r>
            <a:r>
              <a:rPr lang="en-US" dirty="0" smtClean="0"/>
              <a:t> </a:t>
            </a:r>
            <a:r>
              <a:rPr lang="en-US" dirty="0" smtClean="0"/>
              <a:t>AuthService</a:t>
            </a:r>
            <a:r>
              <a:rPr lang="en-US" dirty="0" smtClean="0"/>
              <a:t>   </a:t>
            </a:r>
            <a:endParaRPr lang="en-US" dirty="0" smtClean="0"/>
          </a:p>
          <a:p>
            <a:r>
              <a:rPr lang="en-US" dirty="0" smtClean="0"/>
              <a:t>        ↑</a:t>
            </a:r>
          </a:p>
          <a:p>
            <a:r>
              <a:rPr lang="en-US" dirty="0" smtClean="0"/>
              <a:t> </a:t>
            </a:r>
            <a:r>
              <a:rPr lang="en-US" dirty="0" smtClean="0"/>
              <a:t>AuthController</a:t>
            </a:r>
            <a:r>
              <a:rPr lang="en-US" dirty="0" smtClean="0"/>
              <a:t>    </a:t>
            </a:r>
            <a:endParaRPr lang="en-US" dirty="0" smtClean="0"/>
          </a:p>
          <a:p>
            <a:r>
              <a:rPr lang="en-US" dirty="0" smtClean="0"/>
              <a:t>        ↑</a:t>
            </a:r>
          </a:p>
          <a:p>
            <a:r>
              <a:rPr lang="en-US" dirty="0" smtClean="0"/>
              <a:t> </a:t>
            </a:r>
            <a:r>
              <a:rPr lang="en-US" dirty="0" smtClean="0"/>
              <a:t> User </a:t>
            </a:r>
            <a:r>
              <a:rPr lang="en-US" dirty="0" smtClean="0"/>
              <a:t>(Response)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as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6" y="142876"/>
            <a:ext cx="8786842" cy="64293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20" y="1131404"/>
            <a:ext cx="9072626" cy="415498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 smtClean="0"/>
              <a:t>CREATE TABLE </a:t>
            </a:r>
            <a:r>
              <a:rPr lang="en-US" sz="2200" dirty="0" smtClean="0"/>
              <a:t>  users </a:t>
            </a:r>
            <a:r>
              <a:rPr lang="en-US" sz="2200" dirty="0" smtClean="0"/>
              <a:t>(   </a:t>
            </a:r>
            <a:endParaRPr lang="en-US" sz="2200" dirty="0" smtClean="0"/>
          </a:p>
          <a:p>
            <a:pPr>
              <a:lnSpc>
                <a:spcPct val="150000"/>
              </a:lnSpc>
            </a:pPr>
            <a:r>
              <a:rPr lang="en-US" sz="2200" dirty="0" smtClean="0"/>
              <a:t> user-id     </a:t>
            </a:r>
            <a:r>
              <a:rPr lang="en-US" sz="2200" b="1" dirty="0" smtClean="0"/>
              <a:t>BIGINT</a:t>
            </a:r>
            <a:r>
              <a:rPr lang="en-US" sz="2200" dirty="0" smtClean="0"/>
              <a:t>   PRIMARY </a:t>
            </a:r>
            <a:r>
              <a:rPr lang="en-US" sz="2200" dirty="0" smtClean="0"/>
              <a:t>KEY </a:t>
            </a:r>
            <a:r>
              <a:rPr lang="en-US" sz="2200" dirty="0" smtClean="0"/>
              <a:t> AUTO_INCREMENT,</a:t>
            </a:r>
          </a:p>
          <a:p>
            <a:pPr>
              <a:lnSpc>
                <a:spcPct val="150000"/>
              </a:lnSpc>
            </a:pPr>
            <a:r>
              <a:rPr lang="en-US" sz="2200" dirty="0" smtClean="0"/>
              <a:t> </a:t>
            </a:r>
            <a:r>
              <a:rPr lang="en-US" sz="2200" dirty="0" smtClean="0"/>
              <a:t>username </a:t>
            </a:r>
            <a:r>
              <a:rPr lang="en-US" sz="2200" b="1" dirty="0" smtClean="0"/>
              <a:t> VARCHAR(50</a:t>
            </a:r>
            <a:r>
              <a:rPr lang="en-US" sz="2200" b="1" dirty="0" smtClean="0"/>
              <a:t>) </a:t>
            </a:r>
            <a:r>
              <a:rPr lang="en-US" sz="2200" b="1" dirty="0" smtClean="0"/>
              <a:t>  </a:t>
            </a:r>
            <a:r>
              <a:rPr lang="en-US" sz="2200" dirty="0" smtClean="0"/>
              <a:t>UNIQUE </a:t>
            </a:r>
            <a:r>
              <a:rPr lang="en-US" sz="2200" dirty="0" smtClean="0"/>
              <a:t>NOT NULL</a:t>
            </a:r>
            <a:r>
              <a:rPr lang="en-US" sz="2200" dirty="0" smtClean="0"/>
              <a:t>,</a:t>
            </a:r>
          </a:p>
          <a:p>
            <a:pPr>
              <a:lnSpc>
                <a:spcPct val="150000"/>
              </a:lnSpc>
            </a:pPr>
            <a:r>
              <a:rPr lang="en-US" sz="2200" dirty="0" smtClean="0"/>
              <a:t> email        </a:t>
            </a:r>
            <a:r>
              <a:rPr lang="en-US" sz="2200" b="1" dirty="0" smtClean="0"/>
              <a:t>VARCHAR(100</a:t>
            </a:r>
            <a:r>
              <a:rPr lang="en-US" sz="2200" b="1" dirty="0" smtClean="0"/>
              <a:t>) </a:t>
            </a:r>
            <a:r>
              <a:rPr lang="en-US" sz="2200" b="1" dirty="0" smtClean="0"/>
              <a:t> </a:t>
            </a:r>
            <a:r>
              <a:rPr lang="en-US" sz="2200" dirty="0" smtClean="0"/>
              <a:t>UNIQUE </a:t>
            </a:r>
            <a:r>
              <a:rPr lang="en-US" sz="2200" dirty="0" smtClean="0"/>
              <a:t>NOT NULL,   </a:t>
            </a:r>
          </a:p>
          <a:p>
            <a:pPr>
              <a:lnSpc>
                <a:spcPct val="150000"/>
              </a:lnSpc>
            </a:pPr>
            <a:r>
              <a:rPr lang="en-US" sz="2200" dirty="0" smtClean="0"/>
              <a:t> </a:t>
            </a:r>
            <a:r>
              <a:rPr lang="en-US" sz="2200" dirty="0" smtClean="0"/>
              <a:t>password  </a:t>
            </a:r>
            <a:r>
              <a:rPr lang="en-US" sz="2200" b="1" dirty="0" smtClean="0"/>
              <a:t>VARCHAR(255)   </a:t>
            </a:r>
            <a:r>
              <a:rPr lang="en-US" sz="2200" dirty="0" smtClean="0"/>
              <a:t>NOT NULL, </a:t>
            </a:r>
            <a:endParaRPr lang="en-US" sz="2200" dirty="0" smtClean="0"/>
          </a:p>
          <a:p>
            <a:pPr>
              <a:lnSpc>
                <a:spcPct val="150000"/>
              </a:lnSpc>
            </a:pPr>
            <a:r>
              <a:rPr lang="en-US" sz="2200" dirty="0" smtClean="0"/>
              <a:t> role           </a:t>
            </a:r>
            <a:r>
              <a:rPr lang="en-US" sz="2200" b="1" dirty="0" smtClean="0"/>
              <a:t>VARCHAR(30),    </a:t>
            </a:r>
            <a:endParaRPr lang="en-US" sz="2200" b="1" dirty="0" smtClean="0"/>
          </a:p>
          <a:p>
            <a:pPr>
              <a:lnSpc>
                <a:spcPct val="150000"/>
              </a:lnSpc>
            </a:pPr>
            <a:r>
              <a:rPr lang="en-US" sz="2200" dirty="0" smtClean="0"/>
              <a:t>is_active</a:t>
            </a:r>
            <a:r>
              <a:rPr lang="en-US" sz="2200" dirty="0" smtClean="0"/>
              <a:t>    </a:t>
            </a:r>
            <a:r>
              <a:rPr lang="en-US" sz="2200" b="1" dirty="0" smtClean="0"/>
              <a:t> BOOLEAN   </a:t>
            </a:r>
            <a:r>
              <a:rPr lang="en-US" sz="2200" dirty="0" smtClean="0"/>
              <a:t>DEFAULT TRUE,    </a:t>
            </a:r>
            <a:endParaRPr lang="en-US" sz="2200" dirty="0" smtClean="0"/>
          </a:p>
          <a:p>
            <a:pPr>
              <a:lnSpc>
                <a:spcPct val="150000"/>
              </a:lnSpc>
            </a:pPr>
            <a:r>
              <a:rPr lang="en-US" sz="2200" dirty="0" smtClean="0"/>
              <a:t>created_at</a:t>
            </a:r>
            <a:r>
              <a:rPr lang="en-US" sz="2200" dirty="0" smtClean="0"/>
              <a:t>  </a:t>
            </a:r>
            <a:r>
              <a:rPr lang="en-US" sz="2200" b="1" dirty="0" smtClean="0"/>
              <a:t>TIMESTAMP </a:t>
            </a:r>
            <a:r>
              <a:rPr lang="en-US" sz="2200" dirty="0" smtClean="0"/>
              <a:t>  DEFAULT   CURRENT_TIMESTAMP  );</a:t>
            </a:r>
            <a:endParaRPr lang="en-US" sz="22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43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|</a:t>
            </a:r>
            <a:endParaRPr lang="en-US" sz="5400" b="1" cap="none" spc="0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4282" y="77908"/>
            <a:ext cx="804739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4000" b="1" u="sng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Data Base Schema for Module 1</a:t>
            </a:r>
            <a:endParaRPr lang="en-US" sz="4000" b="1" u="sng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24718" y="2967335"/>
            <a:ext cx="18473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5" name="Round Diagonal Corner Rectangle 4"/>
          <p:cNvSpPr/>
          <p:nvPr/>
        </p:nvSpPr>
        <p:spPr>
          <a:xfrm>
            <a:off x="857224" y="2285992"/>
            <a:ext cx="6215106" cy="1857388"/>
          </a:xfrm>
          <a:prstGeom prst="round2Diag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624718" y="2967335"/>
            <a:ext cx="424347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perspectiveLeft"/>
              <a:lightRig rig="threePt" dir="t"/>
            </a:scene3d>
          </a:bodyPr>
          <a:lstStyle/>
          <a:p>
            <a:pPr algn="ctr"/>
            <a:r>
              <a:rPr lang="en-IN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Thank you</a:t>
            </a:r>
            <a:endParaRPr lang="en-U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583</TotalTime>
  <Words>563</Words>
  <Application>Microsoft Office PowerPoint</Application>
  <PresentationFormat>On-screen Show (4:3)</PresentationFormat>
  <Paragraphs>101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Concourse</vt:lpstr>
      <vt:lpstr>Office Theme</vt:lpstr>
      <vt:lpstr>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HP</cp:lastModifiedBy>
  <cp:revision>14</cp:revision>
  <dcterms:created xsi:type="dcterms:W3CDTF">2025-12-03T07:55:28Z</dcterms:created>
  <dcterms:modified xsi:type="dcterms:W3CDTF">2025-12-04T12:47:37Z</dcterms:modified>
</cp:coreProperties>
</file>