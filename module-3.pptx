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8" r:id="rId2"/>
    <p:sldMasterId id="2147483756" r:id="rId3"/>
  </p:sldMasterIdLst>
  <p:sldIdLst>
    <p:sldId id="265" r:id="rId4"/>
    <p:sldId id="257" r:id="rId5"/>
    <p:sldId id="258" r:id="rId6"/>
    <p:sldId id="259" r:id="rId7"/>
    <p:sldId id="260" r:id="rId8"/>
    <p:sldId id="262" r:id="rId9"/>
    <p:sldId id="261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CC99"/>
    <a:srgbClr val="FFFF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B7C67F-8BF5-447E-B2BA-3AAE75BC2516}" v="1" dt="2026-01-13T08:18:36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-898" y="-1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uman Panda" userId="c54261a0283ddfe9" providerId="LiveId" clId="{0339352F-BF7C-4D8D-9A38-2B53DCA4D72E}"/>
    <pc:docChg chg="undo custSel addSld delSld modSld">
      <pc:chgData name="Anshuman Panda" userId="c54261a0283ddfe9" providerId="LiveId" clId="{0339352F-BF7C-4D8D-9A38-2B53DCA4D72E}" dt="2026-01-13T08:19:06.224" v="532" actId="14100"/>
      <pc:docMkLst>
        <pc:docMk/>
      </pc:docMkLst>
      <pc:sldChg chg="addSp modSp add del mod">
        <pc:chgData name="Anshuman Panda" userId="c54261a0283ddfe9" providerId="LiveId" clId="{0339352F-BF7C-4D8D-9A38-2B53DCA4D72E}" dt="2026-01-13T08:17:36.941" v="526" actId="2696"/>
        <pc:sldMkLst>
          <pc:docMk/>
          <pc:sldMk cId="0" sldId="261"/>
        </pc:sldMkLst>
        <pc:spChg chg="add mod">
          <ac:chgData name="Anshuman Panda" userId="c54261a0283ddfe9" providerId="LiveId" clId="{0339352F-BF7C-4D8D-9A38-2B53DCA4D72E}" dt="2026-01-13T08:08:37.688" v="524" actId="1076"/>
          <ac:spMkLst>
            <pc:docMk/>
            <pc:sldMk cId="0" sldId="261"/>
            <ac:spMk id="6" creationId="{89CE8A7A-0D83-7505-D39D-C72CE5CEA03A}"/>
          </ac:spMkLst>
        </pc:spChg>
      </pc:sldChg>
      <pc:sldChg chg="addSp modSp mod">
        <pc:chgData name="Anshuman Panda" userId="c54261a0283ddfe9" providerId="LiveId" clId="{0339352F-BF7C-4D8D-9A38-2B53DCA4D72E}" dt="2026-01-13T08:00:32.663" v="454" actId="1076"/>
        <pc:sldMkLst>
          <pc:docMk/>
          <pc:sldMk cId="0" sldId="263"/>
        </pc:sldMkLst>
        <pc:spChg chg="add mod">
          <ac:chgData name="Anshuman Panda" userId="c54261a0283ddfe9" providerId="LiveId" clId="{0339352F-BF7C-4D8D-9A38-2B53DCA4D72E}" dt="2026-01-13T07:53:53.785" v="413" actId="2711"/>
          <ac:spMkLst>
            <pc:docMk/>
            <pc:sldMk cId="0" sldId="263"/>
            <ac:spMk id="4" creationId="{1339609C-7559-5FEC-B597-9A2AEC21B9FA}"/>
          </ac:spMkLst>
        </pc:spChg>
        <pc:spChg chg="add mod">
          <ac:chgData name="Anshuman Panda" userId="c54261a0283ddfe9" providerId="LiveId" clId="{0339352F-BF7C-4D8D-9A38-2B53DCA4D72E}" dt="2026-01-13T07:56:18.318" v="426" actId="1076"/>
          <ac:spMkLst>
            <pc:docMk/>
            <pc:sldMk cId="0" sldId="263"/>
            <ac:spMk id="6" creationId="{7B760CA5-BBED-DAAF-FC6D-020BA47F6377}"/>
          </ac:spMkLst>
        </pc:spChg>
        <pc:spChg chg="add mod">
          <ac:chgData name="Anshuman Panda" userId="c54261a0283ddfe9" providerId="LiveId" clId="{0339352F-BF7C-4D8D-9A38-2B53DCA4D72E}" dt="2026-01-13T07:58:21.544" v="438" actId="1076"/>
          <ac:spMkLst>
            <pc:docMk/>
            <pc:sldMk cId="0" sldId="263"/>
            <ac:spMk id="8" creationId="{F9756218-9908-D7EA-2D7A-BCA71FB7A7D8}"/>
          </ac:spMkLst>
        </pc:spChg>
        <pc:spChg chg="add mod">
          <ac:chgData name="Anshuman Panda" userId="c54261a0283ddfe9" providerId="LiveId" clId="{0339352F-BF7C-4D8D-9A38-2B53DCA4D72E}" dt="2026-01-13T08:00:32.663" v="454" actId="1076"/>
          <ac:spMkLst>
            <pc:docMk/>
            <pc:sldMk cId="0" sldId="263"/>
            <ac:spMk id="10" creationId="{F89582B8-EFB3-707C-099C-AD7F9CC67883}"/>
          </ac:spMkLst>
        </pc:spChg>
      </pc:sldChg>
      <pc:sldChg chg="add del">
        <pc:chgData name="Anshuman Panda" userId="c54261a0283ddfe9" providerId="LiveId" clId="{0339352F-BF7C-4D8D-9A38-2B53DCA4D72E}" dt="2026-01-13T07:47:03.764" v="402" actId="2696"/>
        <pc:sldMkLst>
          <pc:docMk/>
          <pc:sldMk cId="0" sldId="264"/>
        </pc:sldMkLst>
      </pc:sldChg>
      <pc:sldChg chg="addSp delSp modSp mod">
        <pc:chgData name="Anshuman Panda" userId="c54261a0283ddfe9" providerId="LiveId" clId="{0339352F-BF7C-4D8D-9A38-2B53DCA4D72E}" dt="2026-01-13T07:46:09.195" v="401" actId="2711"/>
        <pc:sldMkLst>
          <pc:docMk/>
          <pc:sldMk cId="0" sldId="265"/>
        </pc:sldMkLst>
        <pc:spChg chg="add del mod">
          <ac:chgData name="Anshuman Panda" userId="c54261a0283ddfe9" providerId="LiveId" clId="{0339352F-BF7C-4D8D-9A38-2B53DCA4D72E}" dt="2026-01-13T07:46:09.195" v="401" actId="2711"/>
          <ac:spMkLst>
            <pc:docMk/>
            <pc:sldMk cId="0" sldId="265"/>
            <ac:spMk id="6" creationId="{00000000-0000-0000-0000-000000000000}"/>
          </ac:spMkLst>
        </pc:spChg>
        <pc:spChg chg="mod">
          <ac:chgData name="Anshuman Panda" userId="c54261a0283ddfe9" providerId="LiveId" clId="{0339352F-BF7C-4D8D-9A38-2B53DCA4D72E}" dt="2026-01-13T07:31:30.100" v="1" actId="20577"/>
          <ac:spMkLst>
            <pc:docMk/>
            <pc:sldMk cId="0" sldId="265"/>
            <ac:spMk id="9" creationId="{00000000-0000-0000-0000-000000000000}"/>
          </ac:spMkLst>
        </pc:spChg>
      </pc:sldChg>
      <pc:sldChg chg="add del">
        <pc:chgData name="Anshuman Panda" userId="c54261a0283ddfe9" providerId="LiveId" clId="{0339352F-BF7C-4D8D-9A38-2B53DCA4D72E}" dt="2026-01-13T07:47:11.211" v="403" actId="2696"/>
        <pc:sldMkLst>
          <pc:docMk/>
          <pc:sldMk cId="0" sldId="266"/>
        </pc:sldMkLst>
      </pc:sldChg>
      <pc:sldChg chg="addSp modSp new mod">
        <pc:chgData name="Anshuman Panda" userId="c54261a0283ddfe9" providerId="LiveId" clId="{0339352F-BF7C-4D8D-9A38-2B53DCA4D72E}" dt="2026-01-13T08:19:06.224" v="532" actId="14100"/>
        <pc:sldMkLst>
          <pc:docMk/>
          <pc:sldMk cId="1436938537" sldId="266"/>
        </pc:sldMkLst>
        <pc:picChg chg="add mod">
          <ac:chgData name="Anshuman Panda" userId="c54261a0283ddfe9" providerId="LiveId" clId="{0339352F-BF7C-4D8D-9A38-2B53DCA4D72E}" dt="2026-01-13T08:19:06.224" v="532" actId="14100"/>
          <ac:picMkLst>
            <pc:docMk/>
            <pc:sldMk cId="1436938537" sldId="266"/>
            <ac:picMk id="3" creationId="{9CEFDF7E-4D90-8574-DAFF-874856D8C4A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605445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308748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06984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45478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9886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84419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14546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20670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49633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67755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374067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713305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14292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691561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108414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731432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4663873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6054454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3087488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0698437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45478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988633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84419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1454609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206702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4963383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6775581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3740673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7133059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14292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6915615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1084145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7314322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4663873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B6BC31-1857-4780-89B3-C896D1061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F0A0173-F7B3-5FD2-AE17-9BA15D302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F82CEA2-DB9B-7664-9BBC-85ECCD789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2200-481E-499F-81AD-B9894519E4DB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F8AF690-4625-C1A1-1867-846C9270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65DEA0B-3D6C-8F21-A3E5-77A026A6C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25BC-FD3B-4C7F-B81F-4E42B5746F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892163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426A24-6DDB-EC53-EC48-8CBD9B0E8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8FF5510-7D5C-CAF8-2741-7C5105078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3100A4E-8546-018D-3A5C-67315542D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2200-481E-499F-81AD-B9894519E4DB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356BC25-8387-61D3-2AC1-BFB232008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E41B9D1-5149-0E3F-3B32-BC7E3E638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25BC-FD3B-4C7F-B81F-4E42B5746F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0068857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73EF856-DDD9-8986-3BF4-9EF9DE3AE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9ECAAC8-BE36-4F29-8CA5-F749095F6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2D5AAA2-F090-50D6-26CE-E5E6582B3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2200-481E-499F-81AD-B9894519E4DB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397D360-268D-5623-9B9B-131C16C34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8EEEA75-9464-F842-8FAC-D30A3C7EC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25BC-FD3B-4C7F-B81F-4E42B5746F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7174009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BC5374-259C-6767-5E14-6CBF008D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A0EB422-1F67-D5AE-F83D-52CB0E664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E54DD77-0816-3C5A-196E-AC7543B06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9033E19-E8EE-A8C5-769C-B06211BA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2200-481E-499F-81AD-B9894519E4DB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3CD3C60-FC7F-9269-38DD-E2BD4345D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760BBFA-C4D2-A6C8-633D-512DACD8B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25BC-FD3B-4C7F-B81F-4E42B5746F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8247822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474714-BED1-985C-8B93-79732490F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093B5B1-38E2-9A82-B9D7-5B2C329A8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05DD202-FFD7-769F-CCAC-CEDE014C6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228A621D-C556-8716-9A11-C797303F8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DFBC23A-1FDC-35C0-BE79-84D549376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1AB0C85-1336-90CA-7DE6-3495F4CA4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2200-481E-499F-81AD-B9894519E4DB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8D5C7E1-DDB5-B414-5B91-9C7D52F6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1121EEE-AE28-6BF0-9847-6427D9274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25BC-FD3B-4C7F-B81F-4E42B5746F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9549527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8D108B-AEC2-AD07-4FB6-ADE6B1F30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2CA9D77-D86F-8D18-AEE5-F938716D2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2200-481E-499F-81AD-B9894519E4DB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8E1454D-FAE9-9AA9-6C29-6297E589B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DED1922-79A6-4378-53F2-625E32036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25BC-FD3B-4C7F-B81F-4E42B5746F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5615190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82DC852E-4D95-FFD0-9D5D-1F1CFF294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2200-481E-499F-81AD-B9894519E4DB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77E5F74B-FB6E-F403-F9E8-493111E50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5F1EE05-C7ED-D113-0B12-488645346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25BC-FD3B-4C7F-B81F-4E42B5746F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457656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ECEB28-D72F-80D4-758E-F8E03B3E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E2004D9-223C-0F54-7AAE-73B752DF7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B91821E-C1D8-D1AB-6BEA-05256B507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D22073B-BCCB-8216-9AA1-A0F3FB4F4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2200-481E-499F-81AD-B9894519E4DB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AFA3C6-6348-2B8F-D395-AB5EB1517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3EE7742-E982-6D82-346F-1250B1D98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25BC-FD3B-4C7F-B81F-4E42B5746F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5026952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E547D0-C295-6054-BB1E-E287C8CC0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CF0838F-7D51-0BAF-55B1-247767E7EB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01CB7F5-2C3D-E182-D08B-5B6393D3C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F8B709A-F6A7-0685-0C07-5A5C2B05D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2200-481E-499F-81AD-B9894519E4DB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43FFC95-27CD-3B42-C095-5FC0F75A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23ACA25-ED58-A8E4-8FC1-14C8423B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25BC-FD3B-4C7F-B81F-4E42B5746F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050315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85318E5-3517-DDC0-C571-3548D05EF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B52CCBA-7BDB-4A07-29B4-9AD712A13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52CBBDE-58BE-5F38-3E8C-9D84DB49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2200-481E-499F-81AD-B9894519E4DB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0B8E908-F280-78B8-9BB2-A1B95E86F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6333398-B7EC-1B83-B8A3-96999401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25BC-FD3B-4C7F-B81F-4E42B5746F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124593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953058A2-5855-2B9D-0D4E-EA874B8A2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F41FC2E-6E97-214E-6EC1-14B9DA3E0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4B4E5F5-8D05-4A5E-DB95-8176BEF9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2200-481E-499F-81AD-B9894519E4DB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336A1E0-76E0-34B4-93E7-4B2D74864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81EB001-50FB-CDE8-2F3D-DD179333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25BC-FD3B-4C7F-B81F-4E42B5746F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75056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5614391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961B962-ECD0-4231-A8AE-113191873B40}" type="datetimeFigureOut">
              <a:rPr lang="en-IN" smtClean="0"/>
              <a:pPr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B8FF1A1-51F9-4D72-B43F-8F4EE790D10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5614391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909442D7-6D95-A4AD-EA01-4BF22C76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8E15FD0-DD08-0BFF-D5DD-CC5F5F4C2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CA07F25-8B6E-8F08-57A9-D31B24F70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12200-481E-499F-81AD-B9894519E4DB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FCBD23A-EAC7-E535-E3EA-9D3B54C72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952B705-1091-D5DD-443A-886EAEB71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F525BC-FD3B-4C7F-B81F-4E42B5746FF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4563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E545A68-B9E1-EAF6-4748-DBA35F32D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="" xmlns:a16="http://schemas.microsoft.com/office/drawing/2014/main" id="{75301565-6A71-09F6-E144-1E84A465E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D46B483-33A1-AE75-7100-188C5120A938}"/>
              </a:ext>
            </a:extLst>
          </p:cNvPr>
          <p:cNvSpPr txBox="1"/>
          <p:nvPr/>
        </p:nvSpPr>
        <p:spPr>
          <a:xfrm>
            <a:off x="989274" y="0"/>
            <a:ext cx="8896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SMART HOME MANAGEMENT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E1865B72-89DA-712C-B53E-1997BDF3E6DF}"/>
              </a:ext>
            </a:extLst>
          </p:cNvPr>
          <p:cNvSpPr txBox="1"/>
          <p:nvPr/>
        </p:nvSpPr>
        <p:spPr>
          <a:xfrm>
            <a:off x="995680" y="375920"/>
            <a:ext cx="10358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(</a:t>
            </a:r>
            <a:r>
              <a:rPr lang="en-IN" sz="2000" dirty="0">
                <a:solidFill>
                  <a:schemeClr val="bg1"/>
                </a:solidFill>
                <a:latin typeface="Arial Black" panose="020B0A04020102020204" pitchFamily="34" charset="0"/>
              </a:rPr>
              <a:t>Module-3)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E9E0AA0E-1342-6EF1-131C-97C1256420C1}"/>
              </a:ext>
            </a:extLst>
          </p:cNvPr>
          <p:cNvSpPr txBox="1"/>
          <p:nvPr/>
        </p:nvSpPr>
        <p:spPr>
          <a:xfrm>
            <a:off x="1046480" y="730248"/>
            <a:ext cx="9803129" cy="40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Real </a:t>
            </a:r>
            <a:r>
              <a:rPr lang="en-IN" sz="2000" dirty="0">
                <a:solidFill>
                  <a:schemeClr val="bg1"/>
                </a:solidFill>
                <a:latin typeface="Arial Black" panose="020B0A04020102020204" pitchFamily="34" charset="0"/>
              </a:rPr>
              <a:t>Time Monitoring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3E5C1EA8-98A5-56F1-0A90-60A95154ED72}"/>
              </a:ext>
            </a:extLst>
          </p:cNvPr>
          <p:cNvSpPr txBox="1"/>
          <p:nvPr/>
        </p:nvSpPr>
        <p:spPr>
          <a:xfrm>
            <a:off x="0" y="6127750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Black" panose="020B0A04020102020204" pitchFamily="34" charset="0"/>
              </a:rPr>
              <a:t>Presented By-</a:t>
            </a:r>
          </a:p>
          <a:p>
            <a:r>
              <a:rPr lang="en-IN" sz="2000" dirty="0">
                <a:solidFill>
                  <a:schemeClr val="bg1"/>
                </a:solidFill>
                <a:latin typeface="Arial Black" panose="020B0A04020102020204" pitchFamily="34" charset="0"/>
              </a:rPr>
              <a:t>Dibya Patra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6C7DF583-FD8E-5BF1-5304-5A768E0813A4}"/>
              </a:ext>
            </a:extLst>
          </p:cNvPr>
          <p:cNvSpPr txBox="1"/>
          <p:nvPr/>
        </p:nvSpPr>
        <p:spPr>
          <a:xfrm>
            <a:off x="9054547" y="6127751"/>
            <a:ext cx="61225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 Black" panose="020B0A04020102020204" pitchFamily="34" charset="0"/>
              </a:rPr>
              <a:t>Under The Guidance Of-</a:t>
            </a:r>
          </a:p>
          <a:p>
            <a:r>
              <a:rPr lang="en-IN" sz="2000" dirty="0">
                <a:solidFill>
                  <a:schemeClr val="bg1"/>
                </a:solidFill>
                <a:latin typeface="Arial Black" panose="020B0A04020102020204" pitchFamily="34" charset="0"/>
              </a:rPr>
              <a:t>Dr. T. Premalatha</a:t>
            </a:r>
          </a:p>
        </p:txBody>
      </p:sp>
    </p:spTree>
    <p:extLst>
      <p:ext uri="{BB962C8B-B14F-4D97-AF65-F5344CB8AC3E}">
        <p14:creationId xmlns="" xmlns:p14="http://schemas.microsoft.com/office/powerpoint/2010/main" val="168972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000">
              <a:schemeClr val="accent1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65044" y="274377"/>
            <a:ext cx="7765523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lvl="1" algn="ctr"/>
            <a:r>
              <a:rPr lang="en-IN" sz="3200" b="1" u="sng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About Real Time Energy Tracking </a:t>
            </a:r>
            <a:endParaRPr lang="en-US" sz="3200" b="1" u="sng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9171" y="978633"/>
            <a:ext cx="10832123" cy="186899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82804" y="1145512"/>
            <a:ext cx="105708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is Real Time Energy Tracking?</a:t>
            </a:r>
          </a:p>
          <a:p>
            <a:r>
              <a:rPr lang="en-US" b="1" dirty="0">
                <a:solidFill>
                  <a:schemeClr val="bg1"/>
                </a:solidFill>
              </a:rPr>
              <a:t>Definition: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  <a:latin typeface="Arial "/>
              </a:rPr>
              <a:t>Real-time energy tracking allows the system to </a:t>
            </a:r>
            <a:r>
              <a:rPr lang="en-US" b="1" dirty="0">
                <a:solidFill>
                  <a:schemeClr val="bg1"/>
                </a:solidFill>
                <a:latin typeface="Arial "/>
              </a:rPr>
              <a:t>measure, collect, and show live power usage</a:t>
            </a:r>
            <a:r>
              <a:rPr lang="en-US" dirty="0">
                <a:solidFill>
                  <a:schemeClr val="bg1"/>
                </a:solidFill>
                <a:latin typeface="Arial "/>
              </a:rPr>
              <a:t> of devices like AC, lights, washing machine, and water heater through a software dashboard or mobile app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92853" y="3295859"/>
            <a:ext cx="10902461" cy="29039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83287" y="3346101"/>
            <a:ext cx="1021917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 "/>
              </a:rPr>
              <a:t>In the </a:t>
            </a:r>
            <a:r>
              <a:rPr lang="en-US" sz="2000" b="1" dirty="0">
                <a:solidFill>
                  <a:schemeClr val="bg1"/>
                </a:solidFill>
                <a:latin typeface="Arial "/>
              </a:rPr>
              <a:t>Smart Home Energy Management System</a:t>
            </a:r>
            <a:r>
              <a:rPr lang="en-US" sz="2000" dirty="0">
                <a:solidFill>
                  <a:schemeClr val="bg1"/>
                </a:solidFill>
                <a:latin typeface="Arial "/>
              </a:rPr>
              <a:t>, real-time energy tracking continuously monitors the live electricity consumption of household devices using smart sensors. The collected data is sent to the server and displayed on a dashboard, helping users identify high energy usage, receive alerts, and reduce power wastage.</a:t>
            </a:r>
          </a:p>
          <a:p>
            <a:r>
              <a:rPr lang="en-IN" sz="2000" dirty="0">
                <a:solidFill>
                  <a:schemeClr val="bg1"/>
                </a:solidFill>
                <a:latin typeface="Arial "/>
              </a:rPr>
              <a:t>               </a:t>
            </a:r>
          </a:p>
          <a:p>
            <a:r>
              <a:rPr lang="en-IN" sz="2000" dirty="0">
                <a:solidFill>
                  <a:schemeClr val="bg1"/>
                </a:solidFill>
                <a:latin typeface="Arial "/>
              </a:rPr>
              <a:t> It </a:t>
            </a:r>
            <a:r>
              <a:rPr lang="en-US" sz="2000" dirty="0">
                <a:solidFill>
                  <a:schemeClr val="bg1"/>
                </a:solidFill>
                <a:latin typeface="Arial "/>
              </a:rPr>
              <a:t>Prevents energy wastage and Helps users to understand appliance usage,</a:t>
            </a:r>
          </a:p>
          <a:p>
            <a:r>
              <a:rPr lang="en-US" sz="2000" dirty="0">
                <a:solidFill>
                  <a:schemeClr val="bg1"/>
                </a:solidFill>
                <a:latin typeface="Arial "/>
              </a:rPr>
              <a:t>Supports automated energy control, Reduces electricity bills</a:t>
            </a:r>
          </a:p>
          <a:p>
            <a:r>
              <a:rPr lang="en-US" sz="2000" dirty="0">
                <a:solidFill>
                  <a:schemeClr val="bg1"/>
                </a:solidFill>
                <a:latin typeface="Arial "/>
              </a:rPr>
              <a:t>Improves overall energy efficiency</a:t>
            </a:r>
          </a:p>
          <a:p>
            <a:endParaRPr lang="en-US" sz="2000" dirty="0">
              <a:solidFill>
                <a:schemeClr val="bg1"/>
              </a:solidFill>
              <a:latin typeface="Arial "/>
            </a:endParaRPr>
          </a:p>
          <a:p>
            <a:r>
              <a:rPr lang="en-US" sz="2000" dirty="0">
                <a:solidFill>
                  <a:schemeClr val="bg1"/>
                </a:solidFill>
                <a:latin typeface="Arial "/>
              </a:rPr>
              <a:t/>
            </a:r>
            <a:br>
              <a:rPr lang="en-US" sz="2000" dirty="0">
                <a:solidFill>
                  <a:schemeClr val="bg1"/>
                </a:solidFill>
                <a:latin typeface="Arial "/>
              </a:rPr>
            </a:br>
            <a:endParaRPr lang="en-US" sz="2000" dirty="0">
              <a:solidFill>
                <a:schemeClr val="bg1"/>
              </a:solidFill>
              <a:latin typeface="Arial 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  <a:alpha val="82000"/>
              </a:schemeClr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4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13053" y="169234"/>
            <a:ext cx="8873667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sz="2400" dirty="0">
              <a:latin typeface="Arial "/>
            </a:endParaRPr>
          </a:p>
          <a:p>
            <a:endParaRPr lang="en-US" sz="2400" dirty="0">
              <a:latin typeface="Arial 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3135" y="1222408"/>
            <a:ext cx="982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bg1"/>
              </a:solidFill>
              <a:latin typeface="Arial 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67199" y="196769"/>
            <a:ext cx="8939842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2800" b="1" u="sng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rial "/>
                <a:cs typeface="Arial" pitchFamily="34" charset="0"/>
              </a:rPr>
              <a:t> </a:t>
            </a:r>
            <a:r>
              <a:rPr lang="en-US" sz="2800" b="1" u="sng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rial "/>
                <a:cs typeface="Arial" pitchFamily="34" charset="0"/>
              </a:rPr>
              <a:t>Linking of Modules for Real Time Energy Tracking</a:t>
            </a:r>
          </a:p>
          <a:p>
            <a:pPr algn="ctr"/>
            <a:r>
              <a:rPr lang="en-US" sz="2800" b="1" u="sng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rial "/>
                <a:cs typeface="Arial" pitchFamily="34" charset="0"/>
              </a:rPr>
              <a:t> (Module 3)</a:t>
            </a:r>
            <a:endParaRPr lang="en-US" sz="28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Arial 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46972" y="1522071"/>
            <a:ext cx="3900667" cy="45604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2600" y="1572742"/>
            <a:ext cx="3750197" cy="45372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47949" y="1483488"/>
            <a:ext cx="4105154" cy="45604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0" y="1932972"/>
            <a:ext cx="379649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bg1"/>
                </a:solidFill>
                <a:latin typeface="Arial "/>
              </a:rPr>
              <a:t>Module 1:</a:t>
            </a:r>
          </a:p>
          <a:p>
            <a:r>
              <a:rPr lang="en-US" sz="2000" u="sng" dirty="0">
                <a:solidFill>
                  <a:schemeClr val="bg1"/>
                </a:solidFill>
                <a:latin typeface="Arial "/>
              </a:rPr>
              <a:t>User &amp; Access Management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"/>
              </a:rPr>
              <a:t> Module 1 controls who can access the system.</a:t>
            </a:r>
          </a:p>
          <a:p>
            <a:endParaRPr lang="en-US" dirty="0">
              <a:solidFill>
                <a:schemeClr val="bg1"/>
              </a:solidFill>
              <a:latin typeface="Arial "/>
            </a:endParaRP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"/>
              </a:rPr>
              <a:t> It ensures that only authorized users (admin or resident) can view real-time energy data. </a:t>
            </a:r>
          </a:p>
          <a:p>
            <a:endParaRPr lang="en-US" dirty="0">
              <a:solidFill>
                <a:schemeClr val="bg1"/>
              </a:solidFill>
              <a:latin typeface="Arial "/>
            </a:endParaRP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"/>
              </a:rPr>
              <a:t>Admin has full access, while users have limited access like viewing usage and switching devices ON/OFF.</a:t>
            </a:r>
          </a:p>
          <a:p>
            <a:endParaRPr lang="en-US" dirty="0">
              <a:solidFill>
                <a:schemeClr val="bg1"/>
              </a:solidFill>
              <a:latin typeface="Arial 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74288" y="1851949"/>
            <a:ext cx="31367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bg1"/>
                </a:solidFill>
                <a:latin typeface="Arial "/>
              </a:rPr>
              <a:t>Module 2:</a:t>
            </a:r>
          </a:p>
          <a:p>
            <a:r>
              <a:rPr lang="en-US" sz="2000" u="sng" dirty="0">
                <a:solidFill>
                  <a:schemeClr val="bg1"/>
                </a:solidFill>
                <a:latin typeface="Arial "/>
              </a:rPr>
              <a:t>Device Management</a:t>
            </a: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"/>
              </a:rPr>
              <a:t> Module 2 manages which devices are tracked</a:t>
            </a:r>
          </a:p>
          <a:p>
            <a:endParaRPr lang="en-US" dirty="0">
              <a:solidFill>
                <a:schemeClr val="bg1"/>
              </a:solidFill>
              <a:latin typeface="Arial "/>
            </a:endParaRP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"/>
              </a:rPr>
              <a:t> Each device is registered with details such as device type, power rating, location, and current status.</a:t>
            </a:r>
          </a:p>
          <a:p>
            <a:endParaRPr lang="en-US" dirty="0">
              <a:solidFill>
                <a:schemeClr val="bg1"/>
              </a:solidFill>
              <a:latin typeface="Arial "/>
            </a:endParaRPr>
          </a:p>
          <a:p>
            <a:pPr>
              <a:buFont typeface="Arial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 "/>
              </a:rPr>
              <a:t> This information is essential for calculating energy consumption.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300" y="1898248"/>
            <a:ext cx="3808071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bg1"/>
                </a:solidFill>
                <a:latin typeface="Arial "/>
              </a:rPr>
              <a:t>Module 3:</a:t>
            </a:r>
            <a:r>
              <a:rPr lang="en-US" dirty="0">
                <a:solidFill>
                  <a:schemeClr val="bg1"/>
                </a:solidFill>
                <a:latin typeface="Arial "/>
              </a:rPr>
              <a:t> </a:t>
            </a:r>
          </a:p>
          <a:p>
            <a:r>
              <a:rPr lang="en-US" sz="2000" u="sng" dirty="0">
                <a:solidFill>
                  <a:schemeClr val="bg1"/>
                </a:solidFill>
                <a:latin typeface="Arial "/>
              </a:rPr>
              <a:t>Real-Time Energy Tracking</a:t>
            </a:r>
          </a:p>
          <a:p>
            <a:endParaRPr lang="en-US" sz="2000" u="sng" dirty="0">
              <a:solidFill>
                <a:schemeClr val="bg1"/>
              </a:solidFill>
              <a:latin typeface="Arial "/>
            </a:endParaRPr>
          </a:p>
          <a:p>
            <a:r>
              <a:rPr lang="en-US" dirty="0">
                <a:solidFill>
                  <a:schemeClr val="bg1"/>
                </a:solidFill>
                <a:latin typeface="Arial "/>
              </a:rPr>
              <a:t>Module 3 uses user permissions from Module 1 and device data from Module 2 to continuously monitor and display device-wise and total energy consumption in real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7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00480" y="0"/>
            <a:ext cx="8930640" cy="64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48196" y="0"/>
            <a:ext cx="736438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u="sng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Classes in Real-Time Energy Tracking Module (Module 3)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339" y="843537"/>
            <a:ext cx="11753834" cy="57288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24020" y="1930400"/>
            <a:ext cx="82527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1884" y="902825"/>
            <a:ext cx="1000052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 err="1">
                <a:solidFill>
                  <a:schemeClr val="bg1"/>
                </a:solidFill>
                <a:latin typeface="Arial "/>
              </a:rPr>
              <a:t>EnergyUsage</a:t>
            </a:r>
            <a:r>
              <a:rPr lang="en-US" sz="2000" dirty="0">
                <a:solidFill>
                  <a:schemeClr val="bg1"/>
                </a:solidFill>
                <a:latin typeface="Arial "/>
              </a:rPr>
              <a:t> </a:t>
            </a: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 Stores real-time power consumption data</a:t>
            </a: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Includes (device ID, timestamp, and energy usage)</a:t>
            </a: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Uses device details from Module 2 (Device Management)</a:t>
            </a:r>
          </a:p>
          <a:p>
            <a:pPr marL="457200" indent="-457200">
              <a:buAutoNum type="arabicPeriod"/>
            </a:pPr>
            <a:endParaRPr lang="en-US" sz="2000" dirty="0">
              <a:solidFill>
                <a:schemeClr val="bg1"/>
              </a:solidFill>
              <a:latin typeface="Arial "/>
            </a:endParaRPr>
          </a:p>
          <a:p>
            <a:pPr marL="457200" indent="-457200"/>
            <a:r>
              <a:rPr lang="en-US" sz="2000" dirty="0">
                <a:solidFill>
                  <a:schemeClr val="bg1"/>
                </a:solidFill>
                <a:latin typeface="Arial "/>
              </a:rPr>
              <a:t>2.   </a:t>
            </a:r>
            <a:r>
              <a:rPr lang="en-US" sz="2000" dirty="0" err="1">
                <a:solidFill>
                  <a:schemeClr val="bg1"/>
                </a:solidFill>
                <a:latin typeface="Arial "/>
              </a:rPr>
              <a:t>EnergyController</a:t>
            </a:r>
            <a:endParaRPr lang="en-US" sz="2000" dirty="0">
              <a:solidFill>
                <a:schemeClr val="bg1"/>
              </a:solidFill>
              <a:latin typeface="Arial "/>
            </a:endParaRP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 Acts as an interface between user and system</a:t>
            </a: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Handles requests to view energy data </a:t>
            </a: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Checks  user access from Module 1 (User Management)</a:t>
            </a:r>
          </a:p>
          <a:p>
            <a:pPr marL="457200" indent="-457200"/>
            <a:endParaRPr lang="en-US" sz="2000" dirty="0">
              <a:solidFill>
                <a:schemeClr val="bg1"/>
              </a:solidFill>
              <a:latin typeface="Arial "/>
            </a:endParaRPr>
          </a:p>
          <a:p>
            <a:pPr marL="457200" indent="-457200"/>
            <a:r>
              <a:rPr lang="en-US" sz="2000" dirty="0">
                <a:solidFill>
                  <a:schemeClr val="bg1"/>
                </a:solidFill>
                <a:latin typeface="Arial "/>
              </a:rPr>
              <a:t>3.  </a:t>
            </a:r>
            <a:r>
              <a:rPr lang="en-US" sz="2000" dirty="0" err="1">
                <a:solidFill>
                  <a:schemeClr val="bg1"/>
                </a:solidFill>
                <a:latin typeface="Arial "/>
              </a:rPr>
              <a:t>EnergyService</a:t>
            </a:r>
            <a:r>
              <a:rPr lang="en-US" sz="2000" dirty="0">
                <a:solidFill>
                  <a:schemeClr val="bg1"/>
                </a:solidFill>
                <a:latin typeface="Arial "/>
              </a:rPr>
              <a:t> </a:t>
            </a:r>
          </a:p>
          <a:p>
            <a:pPr marL="457200" indent="74613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Performs energy calculations and processing</a:t>
            </a:r>
          </a:p>
          <a:p>
            <a:pPr marL="457200" indent="74613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Calculates total and device-wise consumption</a:t>
            </a:r>
          </a:p>
          <a:p>
            <a:pPr marL="457200" indent="74613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Uses  power ratings from Module 2</a:t>
            </a:r>
          </a:p>
          <a:p>
            <a:pPr marL="457200" indent="-457200"/>
            <a:endParaRPr lang="en-US" sz="2000" dirty="0">
              <a:solidFill>
                <a:schemeClr val="bg1"/>
              </a:solidFill>
              <a:latin typeface="Arial "/>
            </a:endParaRPr>
          </a:p>
          <a:p>
            <a:pPr marL="457200" indent="-457200"/>
            <a:r>
              <a:rPr lang="en-US" sz="2000" dirty="0">
                <a:solidFill>
                  <a:schemeClr val="bg1"/>
                </a:solidFill>
                <a:latin typeface="Arial "/>
              </a:rPr>
              <a:t>4.   </a:t>
            </a:r>
            <a:r>
              <a:rPr lang="en-US" sz="2000" dirty="0" err="1">
                <a:solidFill>
                  <a:schemeClr val="bg1"/>
                </a:solidFill>
                <a:latin typeface="Arial "/>
              </a:rPr>
              <a:t>EnergyRepository</a:t>
            </a:r>
            <a:r>
              <a:rPr lang="en-US" sz="2000" dirty="0">
                <a:solidFill>
                  <a:schemeClr val="bg1"/>
                </a:solidFill>
                <a:latin typeface="Arial "/>
              </a:rPr>
              <a:t> </a:t>
            </a: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 Stores and retrieves energy data from the database</a:t>
            </a:r>
          </a:p>
          <a:p>
            <a:pPr marL="457200" indent="-6350">
              <a:buFont typeface="Arial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"/>
              </a:rPr>
              <a:t> Saves data generated by </a:t>
            </a:r>
            <a:r>
              <a:rPr lang="en-US" sz="2000" dirty="0" err="1">
                <a:solidFill>
                  <a:schemeClr val="bg1"/>
                </a:solidFill>
                <a:latin typeface="Arial "/>
              </a:rPr>
              <a:t>EnergyService</a:t>
            </a:r>
            <a:endParaRPr lang="en-US" sz="2000" dirty="0">
              <a:solidFill>
                <a:schemeClr val="bg1"/>
              </a:solidFill>
              <a:latin typeface="Arial 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ntitled diagram-2026-01-13-06412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80881" y="0"/>
            <a:ext cx="5416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845215" cy="120376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66218" y="196770"/>
            <a:ext cx="56021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chemeClr val="bg1"/>
                </a:solidFill>
                <a:latin typeface="Arial "/>
              </a:rPr>
              <a:t>CLASS DAIGRAM FOR MODULE-3</a:t>
            </a:r>
            <a:endParaRPr lang="en-US" sz="2800" b="1" u="sng" dirty="0">
              <a:solidFill>
                <a:schemeClr val="bg1"/>
              </a:solidFill>
              <a:latin typeface="Arial 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9CE8A7A-0D83-7505-D39D-C72CE5CEA03A}"/>
              </a:ext>
            </a:extLst>
          </p:cNvPr>
          <p:cNvSpPr txBox="1"/>
          <p:nvPr/>
        </p:nvSpPr>
        <p:spPr>
          <a:xfrm>
            <a:off x="873760" y="249623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EnergyTrackingController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              ↓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EnergyTrackingService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              ↓</a:t>
            </a:r>
          </a:p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UsageRepository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              ↓ 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DATABASE (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usage_logs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 table)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339609C-7559-5FEC-B597-9A2AEC21B9FA}"/>
              </a:ext>
            </a:extLst>
          </p:cNvPr>
          <p:cNvSpPr txBox="1"/>
          <p:nvPr/>
        </p:nvSpPr>
        <p:spPr>
          <a:xfrm>
            <a:off x="100747" y="669392"/>
            <a:ext cx="61026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 USAGE (stores usage data)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CLASS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EnergyUsage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Deviceld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energyUsed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B760CA5-BBED-DAAF-FC6D-020BA47F6377}"/>
              </a:ext>
            </a:extLst>
          </p:cNvPr>
          <p:cNvSpPr txBox="1"/>
          <p:nvPr/>
        </p:nvSpPr>
        <p:spPr>
          <a:xfrm>
            <a:off x="7484166" y="588858"/>
            <a:ext cx="61026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 CONTROLLER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CLASS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EnergyController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FUNCTIONrecordEnergy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(data)</a:t>
            </a:r>
          </a:p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EnergyService.saveEnergy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(data)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END FUNCTION</a:t>
            </a:r>
          </a:p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FUNCTIONviewEnergy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(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deviceld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)</a:t>
            </a:r>
          </a:p>
          <a:p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EnergyService.getEnergy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(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deviceld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END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9756218-9908-D7EA-2D7A-BCA71FB7A7D8}"/>
              </a:ext>
            </a:extLst>
          </p:cNvPr>
          <p:cNvSpPr txBox="1"/>
          <p:nvPr/>
        </p:nvSpPr>
        <p:spPr>
          <a:xfrm>
            <a:off x="100747" y="3429000"/>
            <a:ext cx="67970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ENERGYSERVICE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CLASS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EnergyService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FUNCTION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saveEnergy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(data)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store energy usage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END FUNCTION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FUNCTION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getEnergy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(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deviceld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return energy data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END 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F89582B8-EFB3-707C-099C-AD7F9CC67883}"/>
              </a:ext>
            </a:extLst>
          </p:cNvPr>
          <p:cNvSpPr txBox="1"/>
          <p:nvPr/>
        </p:nvSpPr>
        <p:spPr>
          <a:xfrm>
            <a:off x="7484166" y="3734415"/>
            <a:ext cx="67970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 REPOSITORY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CLASS 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EnergyRepository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FUNCTION save(data)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store energy data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END FUNCTION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FUNCTION find(</a:t>
            </a:r>
            <a:r>
              <a:rPr lang="en-IN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deviceld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)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return energy data</a:t>
            </a:r>
          </a:p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END FUNCTION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CEFDF7E-4D90-8574-DAFF-874856D8C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280" y="0"/>
            <a:ext cx="764032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5920" y="223520"/>
            <a:ext cx="3495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Activity </a:t>
            </a:r>
            <a:r>
              <a:rPr lang="en-IN" sz="3200" b="1" u="sng" dirty="0" err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Daigram</a:t>
            </a:r>
            <a:r>
              <a:rPr lang="en-IN" sz="3200" b="1" u="sng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:-</a:t>
            </a:r>
            <a:endParaRPr lang="en-US" sz="3200" b="1" u="sng" dirty="0"/>
          </a:p>
        </p:txBody>
      </p:sp>
    </p:spTree>
    <p:extLst>
      <p:ext uri="{BB962C8B-B14F-4D97-AF65-F5344CB8AC3E}">
        <p14:creationId xmlns="" xmlns:p14="http://schemas.microsoft.com/office/powerpoint/2010/main" val="1436938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958155" y="-19705"/>
            <a:ext cx="821449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3600" b="1" i="1" u="sng" cap="none" spc="0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Arial Black" pitchFamily="34" charset="0"/>
              </a:rPr>
              <a:t>Data Base Schema for Module 3</a:t>
            </a:r>
            <a:endParaRPr lang="en-US" sz="3600" b="1" i="1" cap="none" spc="0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  <a:latin typeface="Arial Black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3600" y="904240"/>
            <a:ext cx="10251440" cy="48361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26160" y="1056640"/>
            <a:ext cx="9875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kern="100" spc="30" dirty="0">
              <a:solidFill>
                <a:srgbClr val="C00000"/>
              </a:solidFill>
              <a:latin typeface="Arial Black" pitchFamily="34" charset="0"/>
              <a:cs typeface="Arial" pitchFamily="34" charset="0"/>
            </a:endParaRPr>
          </a:p>
          <a:p>
            <a:endParaRPr lang="en-US" kern="100" spc="30" dirty="0">
              <a:solidFill>
                <a:srgbClr val="C00000"/>
              </a:solidFill>
              <a:latin typeface="Arial Black" pitchFamily="34" charset="0"/>
              <a:cs typeface="Arial" pitchFamily="34" charset="0"/>
            </a:endParaRPr>
          </a:p>
          <a:p>
            <a:endParaRPr lang="en-US" kern="100" spc="30" dirty="0">
              <a:solidFill>
                <a:srgbClr val="C00000"/>
              </a:solidFill>
              <a:latin typeface="Arial Black" pitchFamily="34" charset="0"/>
              <a:cs typeface="Arial" pitchFamily="34" charset="0"/>
            </a:endParaRPr>
          </a:p>
          <a:p>
            <a:r>
              <a:rPr lang="en-US" kern="100" spc="30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CREATE TABLE </a:t>
            </a:r>
            <a:r>
              <a:rPr lang="en-US" kern="100" spc="3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usage_logs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</a:t>
            </a:r>
          </a:p>
          <a:p>
            <a:endParaRPr lang="en-US" kern="100" spc="30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 </a:t>
            </a:r>
            <a:r>
              <a:rPr lang="en-US" kern="100" spc="3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log_id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      </a:t>
            </a:r>
            <a:r>
              <a:rPr lang="en-US" kern="100" spc="30" dirty="0">
                <a:solidFill>
                  <a:srgbClr val="FFFF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BIGINT </a:t>
            </a:r>
            <a:r>
              <a:rPr lang="en-US" kern="100" spc="30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PRIMARY 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KEY AUTO_INCREMENT,</a:t>
            </a:r>
          </a:p>
          <a:p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</a:t>
            </a:r>
            <a:r>
              <a:rPr lang="en-US" kern="100" spc="3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device_id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</a:t>
            </a:r>
            <a:r>
              <a:rPr lang="en-US" kern="100" spc="30" dirty="0">
                <a:solidFill>
                  <a:srgbClr val="FFFF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BIGINT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,                   …refers to </a:t>
            </a:r>
            <a:r>
              <a:rPr lang="en-US" kern="100" spc="3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devices.device_id</a:t>
            </a:r>
            <a:endParaRPr lang="en-US" kern="100" spc="30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endParaRPr lang="en-US" kern="100" spc="30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</a:t>
            </a:r>
            <a:r>
              <a:rPr lang="en-US" kern="100" spc="3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usage_kw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</a:t>
            </a:r>
            <a:r>
              <a:rPr lang="en-US" kern="100" spc="30" dirty="0">
                <a:solidFill>
                  <a:srgbClr val="FFFF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DECIMAL 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(10,3)     …electricity consumption</a:t>
            </a:r>
          </a:p>
          <a:p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</a:t>
            </a:r>
            <a:r>
              <a:rPr lang="en-US" kern="100" spc="3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log_time</a:t>
            </a:r>
            <a:r>
              <a:rPr lang="en-US" kern="100" spc="30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US" kern="100" spc="30" dirty="0">
                <a:solidFill>
                  <a:srgbClr val="FFFF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  TIMESTAMP</a:t>
            </a:r>
            <a:r>
              <a:rPr lang="en-US" kern="100" spc="30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DEFAULT</a:t>
            </a:r>
            <a:r>
              <a:rPr lang="en-US" kern="100" spc="30" dirty="0">
                <a:solidFill>
                  <a:srgbClr val="FFFF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CURRENT_TIMESTAMP</a:t>
            </a:r>
            <a:endParaRPr lang="en-US" kern="100" spc="30" dirty="0">
              <a:solidFill>
                <a:srgbClr val="FFC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D3C3ABF-B6AD-7630-58BE-18262A344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-1325563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8380FDC7-CE48-534A-8EE7-0F892FCC6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="" xmlns:p14="http://schemas.microsoft.com/office/powerpoint/2010/main" val="42096693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Mesh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Mesh" id="{789EC3FE-34FD-429C-9918-760025E6C145}" vid="{0F262FD6-3409-4039-A531-64BD4D2F99E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619</TotalTime>
  <Words>499</Words>
  <Application>Microsoft Office PowerPoint</Application>
  <PresentationFormat>Custom</PresentationFormat>
  <Paragraphs>110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Mesh</vt:lpstr>
      <vt:lpstr>Office Theme</vt:lpstr>
      <vt:lpstr>Office Theme</vt:lpstr>
      <vt:lpstr>  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</dc:title>
  <dc:creator>Anshuman Panda</dc:creator>
  <cp:lastModifiedBy>HP</cp:lastModifiedBy>
  <cp:revision>22</cp:revision>
  <dcterms:created xsi:type="dcterms:W3CDTF">2025-12-07T09:00:14Z</dcterms:created>
  <dcterms:modified xsi:type="dcterms:W3CDTF">2026-02-06T07:11:15Z</dcterms:modified>
</cp:coreProperties>
</file>